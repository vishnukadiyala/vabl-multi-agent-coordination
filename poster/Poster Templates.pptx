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0"/>
  </p:notesMasterIdLst>
  <p:sldIdLst>
    <p:sldId id="260" r:id="rId5"/>
    <p:sldId id="261" r:id="rId6"/>
    <p:sldId id="262" r:id="rId7"/>
    <p:sldId id="264" r:id="rId8"/>
    <p:sldId id="265" r:id="rId9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0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3"/>
    <p:restoredTop sz="94658"/>
  </p:normalViewPr>
  <p:slideViewPr>
    <p:cSldViewPr snapToGrid="0">
      <p:cViewPr>
        <p:scale>
          <a:sx n="50" d="100"/>
          <a:sy n="50" d="100"/>
        </p:scale>
        <p:origin x="44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350AF-D586-8C48-8B3D-AA4F73FEF83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36A7A-D321-6640-9EA0-1894E9CA8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1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32649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652986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97948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130597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632465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8958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451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1944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E0A8F-7EB9-F953-7C3B-A1AF3BE1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27038-A456-092E-8997-CD9DF1CC6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D2EE2-C46B-D5A4-8136-1566F1C3B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03C9C-716E-859F-1E4F-ED3718E42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36A7A-D321-6640-9EA0-1894E9CA84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13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AF51-54CB-B6D7-E6EF-97DC1F0A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31394-98EF-17B6-7165-0203569F9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214F3-A121-0231-3EA8-13FE6416A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9E641-F5F5-3648-13B1-F33A5263E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36A7A-D321-6640-9EA0-1894E9CA84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40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E02DA-924A-FE02-690C-BD1F79FA6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EA685-1C15-F69A-10B6-369ACBFE1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86891-B3C3-E3F5-0798-B6B1DC5C4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48A55-EF71-938F-FDB3-30DE8677E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36A7A-D321-6640-9EA0-1894E9CA84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27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56D6-9569-5C48-8219-0FA3B276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CF058-28C5-3380-80DC-4C307F5C7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CC00D-F941-E9E4-6FF3-7DF30F5A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1AB13-D1C4-FB3D-C69C-76E36C792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36A7A-D321-6640-9EA0-1894E9CA84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53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37ABD-0780-6DEB-A57A-50FB51DC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C584D-EDD1-F48B-B33F-5F08FA424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BB10B-D621-4FEB-C594-7A8F1E0E5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058AA-FA73-D58C-0196-651CC553E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36A7A-D321-6640-9EA0-1894E9CA84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29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BF52406-52E5-454C-9716-52920D4BD16F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42F3CC-AEBB-944F-9D49-E8019AA9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65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03110B6-4410-A64B-85A1-DAADD1A90EB3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883F00-EDD3-374A-A81F-58149472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7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8F2F153-3A0B-4340-BEAE-C0BD7802A699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E7FAFE-0A4E-7D4A-98C9-846A0CADB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8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EACC0A-02C8-7B42-9E09-37CF32431F1D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C5A204-18E3-484C-9BBB-F99C0E38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9E284F7-E633-674C-A371-8FFD7917B2E9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BDB613-214B-E54A-BE14-BF02B586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1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E39F43D-F49E-8D46-8EAF-284030998475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89C09C-BFC4-9145-A3DD-88B4F3FC1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4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16B761-BE78-6945-9B01-679129FA01FE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23FC65-CFA8-884F-B20E-55612D34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40A55A8-A6DF-BB4D-BA0E-8415A4C1C5D8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B507DC-5D7D-9648-9681-43844D8FE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8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F8C68A7-97CF-C346-80A8-EAFC76805E38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BB0A42F-D3B8-B94E-B495-7878203CB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0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D707B06-774F-EC42-9780-80010CCA5BC3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BB2D84-A3D0-1449-B431-D4B1D10B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3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4DCE887-F616-284F-947F-F7A155E2E11F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76FB661-9772-7047-AE06-904BFDC1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9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FFE8C666-BE86-664D-80F7-53B268192899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CB3A5EC8-CE6E-B94F-981A-886CD0377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25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5FF56-789B-CC47-5F1D-B86D9EA00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F32D642C-A390-2368-E165-C7D4DDDF459D}"/>
              </a:ext>
            </a:extLst>
          </p:cNvPr>
          <p:cNvSpPr txBox="1"/>
          <p:nvPr/>
        </p:nvSpPr>
        <p:spPr>
          <a:xfrm>
            <a:off x="2294559" y="21204581"/>
            <a:ext cx="28795041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0960" tIns="30480" rIns="60960" bIns="30480" anchor="t" anchorCtr="0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870002"/>
                </a:solidFill>
              </a:rPr>
              <a:t>Acknowledgement</a:t>
            </a:r>
            <a:r>
              <a:rPr lang="en-US" sz="2000" dirty="0">
                <a:solidFill>
                  <a:srgbClr val="000000"/>
                </a:solidFill>
              </a:rPr>
              <a:t>. 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870002"/>
                </a:solidFill>
              </a:rPr>
              <a:t>Contact Information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38A03DB-7AAF-89CA-FAF8-2A4767C8202F}"/>
              </a:ext>
            </a:extLst>
          </p:cNvPr>
          <p:cNvCxnSpPr>
            <a:cxnSpLocks/>
          </p:cNvCxnSpPr>
          <p:nvPr/>
        </p:nvCxnSpPr>
        <p:spPr>
          <a:xfrm>
            <a:off x="640080" y="21117496"/>
            <a:ext cx="31851600" cy="0"/>
          </a:xfrm>
          <a:prstGeom prst="line">
            <a:avLst/>
          </a:prstGeom>
          <a:ln w="57150">
            <a:solidFill>
              <a:srgbClr val="8700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BB6CA56-036B-A3DC-6A37-5AE99FE035D7}"/>
              </a:ext>
            </a:extLst>
          </p:cNvPr>
          <p:cNvSpPr/>
          <p:nvPr/>
        </p:nvSpPr>
        <p:spPr>
          <a:xfrm>
            <a:off x="0" y="0"/>
            <a:ext cx="32918400" cy="2607480"/>
          </a:xfrm>
          <a:prstGeom prst="rect">
            <a:avLst/>
          </a:prstGeom>
          <a:solidFill>
            <a:srgbClr val="8700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 dirty="0"/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70CA8039-EBE0-6490-E7AD-5E7F9251BAF2}"/>
              </a:ext>
            </a:extLst>
          </p:cNvPr>
          <p:cNvSpPr/>
          <p:nvPr/>
        </p:nvSpPr>
        <p:spPr>
          <a:xfrm>
            <a:off x="9348174" y="380411"/>
            <a:ext cx="14222052" cy="18466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Project Title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First Author 1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, Author 2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2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, Author 3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, Author 4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 </a:t>
            </a: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Affiliation Details,</a:t>
            </a:r>
            <a:r>
              <a:rPr lang="en-US" sz="32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 2 </a:t>
            </a: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Affiliation Details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D03AA88-3837-3B42-2069-DCE4ED95F8AA}"/>
              </a:ext>
            </a:extLst>
          </p:cNvPr>
          <p:cNvGrpSpPr/>
          <p:nvPr/>
        </p:nvGrpSpPr>
        <p:grpSpPr>
          <a:xfrm>
            <a:off x="29161366" y="573478"/>
            <a:ext cx="3064963" cy="2018173"/>
            <a:chOff x="38586497" y="846117"/>
            <a:chExt cx="4597445" cy="3027260"/>
          </a:xfrm>
        </p:grpSpPr>
        <p:sp>
          <p:nvSpPr>
            <p:cNvPr id="24" name="Rectangle 57">
              <a:extLst>
                <a:ext uri="{FF2B5EF4-FFF2-40B4-BE49-F238E27FC236}">
                  <a16:creationId xmlns:a16="http://schemas.microsoft.com/office/drawing/2014/main" id="{A8F59426-4294-15EB-47BF-A3C04365DDDC}"/>
                </a:ext>
              </a:extLst>
            </p:cNvPr>
            <p:cNvSpPr/>
            <p:nvPr/>
          </p:nvSpPr>
          <p:spPr>
            <a:xfrm>
              <a:off x="38586497" y="2950047"/>
              <a:ext cx="4597445" cy="92333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6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Poster ID: ###</a:t>
              </a:r>
            </a:p>
          </p:txBody>
        </p:sp>
        <p:sp>
          <p:nvSpPr>
            <p:cNvPr id="26" name="Rectangle 57">
              <a:extLst>
                <a:ext uri="{FF2B5EF4-FFF2-40B4-BE49-F238E27FC236}">
                  <a16:creationId xmlns:a16="http://schemas.microsoft.com/office/drawing/2014/main" id="{D92A65E1-B9D5-E9F4-1BF0-F4B31DD9EFC6}"/>
                </a:ext>
              </a:extLst>
            </p:cNvPr>
            <p:cNvSpPr/>
            <p:nvPr/>
          </p:nvSpPr>
          <p:spPr>
            <a:xfrm>
              <a:off x="39486250" y="846117"/>
              <a:ext cx="2797941" cy="1908215"/>
            </a:xfrm>
            <a:prstGeom prst="rect">
              <a:avLst/>
            </a:prstGeom>
            <a:noFill/>
            <a:ln cap="flat">
              <a:solidFill>
                <a:schemeClr val="bg1"/>
              </a:solidFill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QR CODE</a:t>
              </a:r>
            </a:p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To Online submission</a:t>
              </a:r>
            </a:p>
          </p:txBody>
        </p:sp>
      </p:grpSp>
      <p:sp>
        <p:nvSpPr>
          <p:cNvPr id="34" name="Rectangle 57">
            <a:extLst>
              <a:ext uri="{FF2B5EF4-FFF2-40B4-BE49-F238E27FC236}">
                <a16:creationId xmlns:a16="http://schemas.microsoft.com/office/drawing/2014/main" id="{4A6A9380-95CA-B725-2D3F-16AED7FFF421}"/>
              </a:ext>
            </a:extLst>
          </p:cNvPr>
          <p:cNvSpPr/>
          <p:nvPr/>
        </p:nvSpPr>
        <p:spPr>
          <a:xfrm>
            <a:off x="402319" y="380411"/>
            <a:ext cx="2201241" cy="1831912"/>
          </a:xfrm>
          <a:prstGeom prst="rect">
            <a:avLst/>
          </a:prstGeom>
          <a:noFill/>
          <a:ln cap="flat">
            <a:solidFill>
              <a:schemeClr val="bg1"/>
            </a:solidFill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Logo </a:t>
            </a:r>
          </a:p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if any</a:t>
            </a:r>
            <a:endParaRPr lang="en-US" sz="4800" b="1" dirty="0">
              <a:solidFill>
                <a:schemeClr val="bg1"/>
              </a:solidFill>
              <a:latin typeface="Calibri"/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4890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23BFE-3E58-A0A2-1FDB-CAD5CDDA3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1C0FB77D-3DC0-472C-7F81-8B66F7930968}"/>
              </a:ext>
            </a:extLst>
          </p:cNvPr>
          <p:cNvSpPr txBox="1"/>
          <p:nvPr/>
        </p:nvSpPr>
        <p:spPr>
          <a:xfrm>
            <a:off x="2294559" y="21204581"/>
            <a:ext cx="28795041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0960" tIns="30480" rIns="60960" bIns="30480" anchor="t" anchorCtr="0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870002"/>
                </a:solidFill>
              </a:rPr>
              <a:t>Acknowledgement</a:t>
            </a:r>
            <a:r>
              <a:rPr lang="en-US" sz="2000" dirty="0">
                <a:solidFill>
                  <a:srgbClr val="000000"/>
                </a:solidFill>
              </a:rPr>
              <a:t>. 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870002"/>
                </a:solidFill>
              </a:rPr>
              <a:t>Contact Information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13C441A-75F8-ACB0-0C18-78399EDB4424}"/>
              </a:ext>
            </a:extLst>
          </p:cNvPr>
          <p:cNvCxnSpPr>
            <a:cxnSpLocks/>
          </p:cNvCxnSpPr>
          <p:nvPr/>
        </p:nvCxnSpPr>
        <p:spPr>
          <a:xfrm>
            <a:off x="640080" y="21117496"/>
            <a:ext cx="31851600" cy="0"/>
          </a:xfrm>
          <a:prstGeom prst="line">
            <a:avLst/>
          </a:prstGeom>
          <a:ln w="57150">
            <a:solidFill>
              <a:srgbClr val="8700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F6F5D69-D330-966E-91E2-F467AD61D249}"/>
              </a:ext>
            </a:extLst>
          </p:cNvPr>
          <p:cNvSpPr/>
          <p:nvPr/>
        </p:nvSpPr>
        <p:spPr>
          <a:xfrm>
            <a:off x="0" y="0"/>
            <a:ext cx="32918400" cy="2607480"/>
          </a:xfrm>
          <a:prstGeom prst="rect">
            <a:avLst/>
          </a:prstGeom>
          <a:solidFill>
            <a:srgbClr val="8700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 dirty="0"/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920FD85A-CA58-4506-FDC8-D60AC2D82E3B}"/>
              </a:ext>
            </a:extLst>
          </p:cNvPr>
          <p:cNvSpPr/>
          <p:nvPr/>
        </p:nvSpPr>
        <p:spPr>
          <a:xfrm>
            <a:off x="9348174" y="380411"/>
            <a:ext cx="14222052" cy="18466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Project Title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First Author 1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, Author 2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2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, Author 3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, Author 4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 </a:t>
            </a: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Affiliation Details,</a:t>
            </a:r>
            <a:r>
              <a:rPr lang="en-US" sz="32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 2 </a:t>
            </a: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Affiliation Details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E9BCC0-53C7-D28C-0219-0CAD7D4CF336}"/>
              </a:ext>
            </a:extLst>
          </p:cNvPr>
          <p:cNvGrpSpPr/>
          <p:nvPr/>
        </p:nvGrpSpPr>
        <p:grpSpPr>
          <a:xfrm>
            <a:off x="29161366" y="573478"/>
            <a:ext cx="3064963" cy="2018173"/>
            <a:chOff x="38586497" y="846117"/>
            <a:chExt cx="4597445" cy="3027260"/>
          </a:xfrm>
        </p:grpSpPr>
        <p:sp>
          <p:nvSpPr>
            <p:cNvPr id="24" name="Rectangle 57">
              <a:extLst>
                <a:ext uri="{FF2B5EF4-FFF2-40B4-BE49-F238E27FC236}">
                  <a16:creationId xmlns:a16="http://schemas.microsoft.com/office/drawing/2014/main" id="{14146680-21F5-CD08-D6A4-7F7AA7EC700B}"/>
                </a:ext>
              </a:extLst>
            </p:cNvPr>
            <p:cNvSpPr/>
            <p:nvPr/>
          </p:nvSpPr>
          <p:spPr>
            <a:xfrm>
              <a:off x="38586497" y="2950047"/>
              <a:ext cx="4597445" cy="92333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6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Poster ID: ###</a:t>
              </a:r>
            </a:p>
          </p:txBody>
        </p:sp>
        <p:sp>
          <p:nvSpPr>
            <p:cNvPr id="26" name="Rectangle 57">
              <a:extLst>
                <a:ext uri="{FF2B5EF4-FFF2-40B4-BE49-F238E27FC236}">
                  <a16:creationId xmlns:a16="http://schemas.microsoft.com/office/drawing/2014/main" id="{1C1E965C-8644-619D-DF29-94B01B5836B9}"/>
                </a:ext>
              </a:extLst>
            </p:cNvPr>
            <p:cNvSpPr/>
            <p:nvPr/>
          </p:nvSpPr>
          <p:spPr>
            <a:xfrm>
              <a:off x="39486250" y="846117"/>
              <a:ext cx="2797941" cy="1908215"/>
            </a:xfrm>
            <a:prstGeom prst="rect">
              <a:avLst/>
            </a:prstGeom>
            <a:noFill/>
            <a:ln cap="flat">
              <a:solidFill>
                <a:schemeClr val="bg1"/>
              </a:solidFill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QR CODE</a:t>
              </a:r>
            </a:p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To Online submission</a:t>
              </a:r>
            </a:p>
          </p:txBody>
        </p:sp>
      </p:grpSp>
      <p:sp>
        <p:nvSpPr>
          <p:cNvPr id="34" name="Rectangle 57">
            <a:extLst>
              <a:ext uri="{FF2B5EF4-FFF2-40B4-BE49-F238E27FC236}">
                <a16:creationId xmlns:a16="http://schemas.microsoft.com/office/drawing/2014/main" id="{99F8942F-F19E-8A78-8F87-5A68A7F8D240}"/>
              </a:ext>
            </a:extLst>
          </p:cNvPr>
          <p:cNvSpPr/>
          <p:nvPr/>
        </p:nvSpPr>
        <p:spPr>
          <a:xfrm>
            <a:off x="402319" y="380411"/>
            <a:ext cx="2201241" cy="1831912"/>
          </a:xfrm>
          <a:prstGeom prst="rect">
            <a:avLst/>
          </a:prstGeom>
          <a:noFill/>
          <a:ln cap="flat">
            <a:solidFill>
              <a:schemeClr val="bg1"/>
            </a:solidFill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Logo </a:t>
            </a:r>
          </a:p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if any</a:t>
            </a:r>
            <a:endParaRPr lang="en-US" sz="4800" b="1" dirty="0">
              <a:solidFill>
                <a:schemeClr val="bg1"/>
              </a:solidFill>
              <a:latin typeface="Calibri"/>
              <a:ea typeface="等线"/>
              <a:cs typeface="Calibri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C7BA87B-2731-C984-9069-8E97C9BD2B34}"/>
              </a:ext>
            </a:extLst>
          </p:cNvPr>
          <p:cNvGrpSpPr/>
          <p:nvPr/>
        </p:nvGrpSpPr>
        <p:grpSpPr>
          <a:xfrm>
            <a:off x="650909" y="2987891"/>
            <a:ext cx="15691121" cy="8734624"/>
            <a:chOff x="402319" y="2987891"/>
            <a:chExt cx="15691121" cy="8734624"/>
          </a:xfrm>
        </p:grpSpPr>
        <p:sp>
          <p:nvSpPr>
            <p:cNvPr id="2" name="TextBox 14">
              <a:extLst>
                <a:ext uri="{FF2B5EF4-FFF2-40B4-BE49-F238E27FC236}">
                  <a16:creationId xmlns:a16="http://schemas.microsoft.com/office/drawing/2014/main" id="{2FF2F34F-C684-AB1B-6561-505C3316BFE4}"/>
                </a:ext>
              </a:extLst>
            </p:cNvPr>
            <p:cNvSpPr txBox="1"/>
            <p:nvPr/>
          </p:nvSpPr>
          <p:spPr>
            <a:xfrm>
              <a:off x="422117" y="3891536"/>
              <a:ext cx="1567132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" name="Rounded Rectangle 15">
              <a:extLst>
                <a:ext uri="{FF2B5EF4-FFF2-40B4-BE49-F238E27FC236}">
                  <a16:creationId xmlns:a16="http://schemas.microsoft.com/office/drawing/2014/main" id="{322EF8BE-7743-7D6C-B9BB-E503D3FF31E7}"/>
                </a:ext>
              </a:extLst>
            </p:cNvPr>
            <p:cNvSpPr/>
            <p:nvPr/>
          </p:nvSpPr>
          <p:spPr>
            <a:xfrm>
              <a:off x="402319" y="2987891"/>
              <a:ext cx="1567132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8E093F2-CFA7-B0F7-9F87-F3320949A451}"/>
              </a:ext>
            </a:extLst>
          </p:cNvPr>
          <p:cNvGrpSpPr/>
          <p:nvPr/>
        </p:nvGrpSpPr>
        <p:grpSpPr>
          <a:xfrm>
            <a:off x="650909" y="12102926"/>
            <a:ext cx="15691121" cy="8734624"/>
            <a:chOff x="402319" y="12102926"/>
            <a:chExt cx="15691121" cy="8734624"/>
          </a:xfrm>
        </p:grpSpPr>
        <p:sp>
          <p:nvSpPr>
            <p:cNvPr id="12" name="TextBox 14">
              <a:extLst>
                <a:ext uri="{FF2B5EF4-FFF2-40B4-BE49-F238E27FC236}">
                  <a16:creationId xmlns:a16="http://schemas.microsoft.com/office/drawing/2014/main" id="{E51ED52B-C42B-DF80-6489-882AE56B7DB6}"/>
                </a:ext>
              </a:extLst>
            </p:cNvPr>
            <p:cNvSpPr txBox="1"/>
            <p:nvPr/>
          </p:nvSpPr>
          <p:spPr>
            <a:xfrm>
              <a:off x="422117" y="13006571"/>
              <a:ext cx="1567132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13" name="Rounded Rectangle 15">
              <a:extLst>
                <a:ext uri="{FF2B5EF4-FFF2-40B4-BE49-F238E27FC236}">
                  <a16:creationId xmlns:a16="http://schemas.microsoft.com/office/drawing/2014/main" id="{5309FB58-2529-1037-D35B-67CCA3EA014F}"/>
                </a:ext>
              </a:extLst>
            </p:cNvPr>
            <p:cNvSpPr/>
            <p:nvPr/>
          </p:nvSpPr>
          <p:spPr>
            <a:xfrm>
              <a:off x="402319" y="12102926"/>
              <a:ext cx="1567132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A956FE-AC79-1672-26B8-72009E0CA407}"/>
              </a:ext>
            </a:extLst>
          </p:cNvPr>
          <p:cNvGrpSpPr/>
          <p:nvPr/>
        </p:nvGrpSpPr>
        <p:grpSpPr>
          <a:xfrm>
            <a:off x="16596168" y="2987891"/>
            <a:ext cx="15691121" cy="8734624"/>
            <a:chOff x="16535208" y="2987891"/>
            <a:chExt cx="15691121" cy="8734624"/>
          </a:xfrm>
        </p:grpSpPr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90EDE14-EBF6-42C1-1824-A85BC675730B}"/>
                </a:ext>
              </a:extLst>
            </p:cNvPr>
            <p:cNvSpPr txBox="1"/>
            <p:nvPr/>
          </p:nvSpPr>
          <p:spPr>
            <a:xfrm>
              <a:off x="16555006" y="3891536"/>
              <a:ext cx="1567132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E8F799D0-49C9-EECE-1C77-7345C57272BE}"/>
                </a:ext>
              </a:extLst>
            </p:cNvPr>
            <p:cNvSpPr/>
            <p:nvPr/>
          </p:nvSpPr>
          <p:spPr>
            <a:xfrm>
              <a:off x="16535208" y="2987891"/>
              <a:ext cx="1567132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EBE07F2-2F09-6507-B9B4-641ECCF6C2DF}"/>
              </a:ext>
            </a:extLst>
          </p:cNvPr>
          <p:cNvGrpSpPr/>
          <p:nvPr/>
        </p:nvGrpSpPr>
        <p:grpSpPr>
          <a:xfrm>
            <a:off x="16596168" y="12102926"/>
            <a:ext cx="15691121" cy="8734624"/>
            <a:chOff x="16535208" y="12102926"/>
            <a:chExt cx="15691121" cy="8734624"/>
          </a:xfrm>
        </p:grpSpPr>
        <p:sp>
          <p:nvSpPr>
            <p:cNvPr id="17" name="TextBox 14">
              <a:extLst>
                <a:ext uri="{FF2B5EF4-FFF2-40B4-BE49-F238E27FC236}">
                  <a16:creationId xmlns:a16="http://schemas.microsoft.com/office/drawing/2014/main" id="{E9F9ED17-12C4-4616-BBE9-9ACE6064BA49}"/>
                </a:ext>
              </a:extLst>
            </p:cNvPr>
            <p:cNvSpPr txBox="1"/>
            <p:nvPr/>
          </p:nvSpPr>
          <p:spPr>
            <a:xfrm>
              <a:off x="16555006" y="13006571"/>
              <a:ext cx="1567132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18" name="Rounded Rectangle 15">
              <a:extLst>
                <a:ext uri="{FF2B5EF4-FFF2-40B4-BE49-F238E27FC236}">
                  <a16:creationId xmlns:a16="http://schemas.microsoft.com/office/drawing/2014/main" id="{CEE2250B-E91E-862E-6E90-DBF32B538B2E}"/>
                </a:ext>
              </a:extLst>
            </p:cNvPr>
            <p:cNvSpPr/>
            <p:nvPr/>
          </p:nvSpPr>
          <p:spPr>
            <a:xfrm>
              <a:off x="16535208" y="12102926"/>
              <a:ext cx="1567132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1924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A7C7A-DF4F-6B85-37DE-7200E4F2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65DD759A-A0FB-9809-6EB2-8788871CFBFB}"/>
              </a:ext>
            </a:extLst>
          </p:cNvPr>
          <p:cNvSpPr txBox="1"/>
          <p:nvPr/>
        </p:nvSpPr>
        <p:spPr>
          <a:xfrm>
            <a:off x="2294559" y="21204581"/>
            <a:ext cx="28795041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0960" tIns="30480" rIns="60960" bIns="30480" anchor="t" anchorCtr="0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rgbClr val="000000"/>
                </a:solidFill>
              </a:rPr>
              <a:t>. This work was supported by the School of Computer Science at the University of Oklahoma. We thank the Data Institute for Societal Challenge (DISC) for fostering interdisciplinary data science research.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870002"/>
                </a:solidFill>
              </a:rPr>
              <a:t>vishnupk@ou.edu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5E6E4C9-46AE-319D-AF09-A30250BCAF33}"/>
              </a:ext>
            </a:extLst>
          </p:cNvPr>
          <p:cNvCxnSpPr>
            <a:cxnSpLocks/>
          </p:cNvCxnSpPr>
          <p:nvPr/>
        </p:nvCxnSpPr>
        <p:spPr>
          <a:xfrm>
            <a:off x="640080" y="21117496"/>
            <a:ext cx="31851600" cy="0"/>
          </a:xfrm>
          <a:prstGeom prst="line">
            <a:avLst/>
          </a:prstGeom>
          <a:ln w="57150">
            <a:solidFill>
              <a:srgbClr val="8700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C2E0530-0E36-4F20-808B-FFA0DA2EA602}"/>
              </a:ext>
            </a:extLst>
          </p:cNvPr>
          <p:cNvSpPr/>
          <p:nvPr/>
        </p:nvSpPr>
        <p:spPr>
          <a:xfrm>
            <a:off x="0" y="0"/>
            <a:ext cx="32918400" cy="2607480"/>
          </a:xfrm>
          <a:prstGeom prst="rect">
            <a:avLst/>
          </a:prstGeom>
          <a:solidFill>
            <a:srgbClr val="8700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 dirty="0"/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515CE86F-1572-430C-BE05-34974E2339B9}"/>
              </a:ext>
            </a:extLst>
          </p:cNvPr>
          <p:cNvSpPr/>
          <p:nvPr/>
        </p:nvSpPr>
        <p:spPr>
          <a:xfrm>
            <a:off x="3636335" y="380411"/>
            <a:ext cx="25199163" cy="18466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VABL: Attention-Based Belief Learning for Implicit Multi-Agent Coordination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Vishnu Kadiyala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, Mohammed Atiquzzaman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 </a:t>
            </a: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School of Computer Science, University of Oklahoma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181E203-F173-D708-7B98-235D47DD2C1A}"/>
              </a:ext>
            </a:extLst>
          </p:cNvPr>
          <p:cNvGrpSpPr/>
          <p:nvPr/>
        </p:nvGrpSpPr>
        <p:grpSpPr>
          <a:xfrm>
            <a:off x="29161366" y="573478"/>
            <a:ext cx="3354715" cy="2018173"/>
            <a:chOff x="38586497" y="846117"/>
            <a:chExt cx="5032073" cy="3027260"/>
          </a:xfrm>
        </p:grpSpPr>
        <p:sp>
          <p:nvSpPr>
            <p:cNvPr id="24" name="Rectangle 57">
              <a:extLst>
                <a:ext uri="{FF2B5EF4-FFF2-40B4-BE49-F238E27FC236}">
                  <a16:creationId xmlns:a16="http://schemas.microsoft.com/office/drawing/2014/main" id="{AD2F0E2A-65BD-2875-5307-853EBB59AFB2}"/>
                </a:ext>
              </a:extLst>
            </p:cNvPr>
            <p:cNvSpPr/>
            <p:nvPr/>
          </p:nvSpPr>
          <p:spPr>
            <a:xfrm>
              <a:off x="38586497" y="2950047"/>
              <a:ext cx="5032073" cy="92333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6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Poster ID: GR30</a:t>
              </a:r>
            </a:p>
          </p:txBody>
        </p:sp>
        <p:sp>
          <p:nvSpPr>
            <p:cNvPr id="26" name="Rectangle 57">
              <a:extLst>
                <a:ext uri="{FF2B5EF4-FFF2-40B4-BE49-F238E27FC236}">
                  <a16:creationId xmlns:a16="http://schemas.microsoft.com/office/drawing/2014/main" id="{889FF254-E255-166E-B09A-5E8DA061D1FF}"/>
                </a:ext>
              </a:extLst>
            </p:cNvPr>
            <p:cNvSpPr/>
            <p:nvPr/>
          </p:nvSpPr>
          <p:spPr>
            <a:xfrm>
              <a:off x="39486250" y="846117"/>
              <a:ext cx="2797941" cy="1908215"/>
            </a:xfrm>
            <a:prstGeom prst="rect">
              <a:avLst/>
            </a:prstGeom>
            <a:noFill/>
            <a:ln cap="flat">
              <a:solidFill>
                <a:schemeClr val="bg1"/>
              </a:solidFill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QR CODE</a:t>
              </a:r>
            </a:p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To Online submission</a:t>
              </a:r>
            </a:p>
          </p:txBody>
        </p:sp>
      </p:grpSp>
      <p:sp>
        <p:nvSpPr>
          <p:cNvPr id="34" name="Rectangle 57">
            <a:extLst>
              <a:ext uri="{FF2B5EF4-FFF2-40B4-BE49-F238E27FC236}">
                <a16:creationId xmlns:a16="http://schemas.microsoft.com/office/drawing/2014/main" id="{C646588E-5313-B11F-5270-67B0AFF99AF2}"/>
              </a:ext>
            </a:extLst>
          </p:cNvPr>
          <p:cNvSpPr/>
          <p:nvPr/>
        </p:nvSpPr>
        <p:spPr>
          <a:xfrm>
            <a:off x="402319" y="380411"/>
            <a:ext cx="2201241" cy="1831912"/>
          </a:xfrm>
          <a:prstGeom prst="rect">
            <a:avLst/>
          </a:prstGeom>
          <a:noFill/>
          <a:ln cap="flat">
            <a:solidFill>
              <a:schemeClr val="bg1"/>
            </a:solidFill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Logo </a:t>
            </a:r>
          </a:p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if any</a:t>
            </a:r>
            <a:endParaRPr lang="en-US" sz="4800" b="1" dirty="0">
              <a:solidFill>
                <a:schemeClr val="bg1"/>
              </a:solidFill>
              <a:latin typeface="Calibri"/>
              <a:ea typeface="等线"/>
              <a:cs typeface="Calibri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49E330-D6CF-941F-A257-34011129AA7F}"/>
              </a:ext>
            </a:extLst>
          </p:cNvPr>
          <p:cNvGrpSpPr/>
          <p:nvPr/>
        </p:nvGrpSpPr>
        <p:grpSpPr>
          <a:xfrm>
            <a:off x="650909" y="2987891"/>
            <a:ext cx="10413331" cy="8216702"/>
            <a:chOff x="650909" y="2987891"/>
            <a:chExt cx="10413331" cy="8216702"/>
          </a:xfrm>
        </p:grpSpPr>
        <p:sp>
          <p:nvSpPr>
            <p:cNvPr id="2" name="TextBox 14">
              <a:extLst>
                <a:ext uri="{FF2B5EF4-FFF2-40B4-BE49-F238E27FC236}">
                  <a16:creationId xmlns:a16="http://schemas.microsoft.com/office/drawing/2014/main" id="{3ED33E8A-5E45-7585-13FE-51E44A15280B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313057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r>
                <a:rPr lang="en-US" sz="2000" b="1" dirty="0"/>
                <a:t>Can AI agents coordinate without communication?</a:t>
              </a:r>
              <a:endParaRPr lang="en-US" sz="2000" dirty="0"/>
            </a:p>
            <a:p>
              <a:pPr>
                <a:spcAft>
                  <a:spcPts val="800"/>
                </a:spcAft>
              </a:pPr>
              <a:r>
                <a:rPr lang="en-US" sz="2000" dirty="0"/>
                <a:t>A quarterback reads the safety, sees his receiver break, and throws there’s  no audible exchange needed. He coordinates by predicting, not communicating</a:t>
              </a:r>
              <a:endParaRPr lang="en-US" sz="2000" b="1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r>
                <a:rPr lang="en-US" sz="2000" b="1" dirty="0"/>
                <a:t>Setting</a:t>
              </a:r>
              <a:r>
                <a:rPr lang="en-US" sz="2000" dirty="0"/>
                <a:t>: Decentralized POMDPs </a:t>
              </a:r>
            </a:p>
            <a:p>
              <a:pPr>
                <a:spcAft>
                  <a:spcPts val="800"/>
                </a:spcAft>
              </a:pPr>
              <a:r>
                <a:rPr lang="en-US" sz="2000" dirty="0"/>
                <a:t>(agents act on partial observations, no shared communication channel)</a:t>
              </a:r>
            </a:p>
            <a:p>
              <a:pPr>
                <a:spcAft>
                  <a:spcPts val="800"/>
                </a:spcAft>
              </a:pPr>
              <a:r>
                <a:rPr lang="en-US" sz="2000" b="1" dirty="0"/>
                <a:t> Coordination Collapse</a:t>
              </a:r>
            </a:p>
            <a:p>
              <a:pPr>
                <a:spcAft>
                  <a:spcPts val="800"/>
                </a:spcAft>
              </a:pPr>
              <a:r>
                <a:rPr lang="en-US" sz="2000" dirty="0"/>
                <a:t> Agents learn teamwork then catastrophically forget it. </a:t>
              </a:r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" name="Rounded Rectangle 15">
              <a:extLst>
                <a:ext uri="{FF2B5EF4-FFF2-40B4-BE49-F238E27FC236}">
                  <a16:creationId xmlns:a16="http://schemas.microsoft.com/office/drawing/2014/main" id="{1AA7F7C9-9313-6D09-A90A-9398AE338A4B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The Problem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CEFBB98-3098-EF48-3725-260CE988EAD5}"/>
              </a:ext>
            </a:extLst>
          </p:cNvPr>
          <p:cNvGrpSpPr/>
          <p:nvPr/>
        </p:nvGrpSpPr>
        <p:grpSpPr>
          <a:xfrm>
            <a:off x="11262434" y="2987891"/>
            <a:ext cx="20550180" cy="8888964"/>
            <a:chOff x="650909" y="2987891"/>
            <a:chExt cx="10413331" cy="888896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14">
                  <a:extLst>
                    <a:ext uri="{FF2B5EF4-FFF2-40B4-BE49-F238E27FC236}">
                      <a16:creationId xmlns:a16="http://schemas.microsoft.com/office/drawing/2014/main" id="{535B0309-405F-3041-6DBD-B4CC87E84CF4}"/>
                    </a:ext>
                  </a:extLst>
                </p:cNvPr>
                <p:cNvSpPr txBox="1"/>
                <p:nvPr/>
              </p:nvSpPr>
              <p:spPr>
                <a:xfrm>
                  <a:off x="670707" y="3891536"/>
                  <a:ext cx="10393533" cy="7985319"/>
                </a:xfrm>
                <a:prstGeom prst="roundRect">
                  <a:avLst>
                    <a:gd name="adj" fmla="val 2326"/>
                  </a:avLst>
                </a:prstGeom>
                <a:ln w="28575">
                  <a:solidFill>
                    <a:srgbClr val="870002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0960" tIns="30480" rIns="60960" bIns="30480" anchor="t" anchorCtr="0" compatLnSpc="1">
                  <a:spAutoFit/>
                </a:bodyPr>
                <a:lstStyle/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>
                    <a:spcAft>
                      <a:spcPts val="800"/>
                    </a:spcAft>
                  </a:pPr>
                  <a:endParaRPr lang="en-US" sz="2000" dirty="0"/>
                </a:p>
                <a:p>
                  <a:pPr marL="457200" indent="-457200">
                    <a:spcAft>
                      <a:spcPts val="800"/>
                    </a:spcAft>
                    <a:buAutoNum type="arabicPeriod"/>
                  </a:pPr>
                  <a:r>
                    <a:rPr lang="en-US" sz="2000" b="1" dirty="0"/>
                    <a:t>Observe: </a:t>
                  </a:r>
                  <a:r>
                    <a:rPr lang="en-US" sz="2000" dirty="0"/>
                    <a:t>Watch teammates’ actions</a:t>
                  </a:r>
                  <a:r>
                    <a:rPr lang="en-US" sz="2000" b="1" dirty="0"/>
                    <a:t> </a:t>
                  </a:r>
                </a:p>
                <a:p>
                  <a:pPr marL="457200" indent="-457200">
                    <a:spcAft>
                      <a:spcPts val="800"/>
                    </a:spcAft>
                    <a:buAutoNum type="arabicPeriod"/>
                  </a:pPr>
                  <a:r>
                    <a:rPr lang="en-US" sz="2000" b="1" dirty="0"/>
                    <a:t>Attend: </a:t>
                  </a:r>
                  <a:r>
                    <a:rPr lang="en-US" sz="2000" dirty="0"/>
                    <a:t>Multi-head attention (h=4) weights which teammates matter. Q = belief. K/V = action encodings </a:t>
                  </a:r>
                  <a:endParaRPr lang="en-US" sz="2000" b="1" dirty="0"/>
                </a:p>
                <a:p>
                  <a:pPr marL="457200" indent="-457200">
                    <a:spcAft>
                      <a:spcPts val="800"/>
                    </a:spcAft>
                    <a:buAutoNum type="arabicPeriod"/>
                  </a:pPr>
                  <a:r>
                    <a:rPr lang="en-US" sz="2000" b="1" dirty="0"/>
                    <a:t>Update: </a:t>
                  </a:r>
                  <a:r>
                    <a:rPr lang="en-US" sz="2000" dirty="0"/>
                    <a:t>GRU updates belief state:</a:t>
                  </a:r>
                  <a:r>
                    <a:rPr lang="en-US" sz="2000" b="1" i="1" dirty="0">
                      <a:latin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b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1" i="0">
                          <a:latin typeface="Cambria Math" panose="02040503050406030204" pitchFamily="18" charset="0"/>
                        </a:rPr>
                        <m:t>GRU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  <m:d>
                                <m:d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b>
                                    <m:sup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e>
                              <m:sSubSup>
                                <m:sSubSup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  <m:sup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, </m:t>
                          </m:r>
                          <m:sSubSup>
                            <m:sSub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bSup>
                        </m:e>
                      </m:d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w</m:t>
                      </m:r>
                    </m:oMath>
                  </a14:m>
                  <a:r>
                    <a:rPr lang="en-US" sz="2000" dirty="0"/>
                    <a:t>here,</a:t>
                  </a:r>
                  <a:r>
                    <a:rPr lang="en-US" sz="2000" b="1" dirty="0"/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b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nary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𝝍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bSup>
                        </m:e>
                      </m:d>
                    </m:oMath>
                  </a14:m>
                  <a:endParaRPr lang="en-US" sz="2000" b="1" dirty="0"/>
                </a:p>
                <a:p>
                  <a:pPr marL="457200" indent="-457200">
                    <a:spcAft>
                      <a:spcPts val="800"/>
                    </a:spcAft>
                    <a:buAutoNum type="arabicPeriod"/>
                  </a:pPr>
                  <a:r>
                    <a:rPr lang="en-US" sz="2000" b="1" dirty="0"/>
                    <a:t>Predict: </a:t>
                  </a:r>
                  <a:r>
                    <a:rPr lang="en-US" sz="2000" dirty="0"/>
                    <a:t>Auxiliary loss predicts teammates’ next actions (Theory of Mind), keeps belief calibrated.</a:t>
                  </a:r>
                  <a:endParaRPr lang="en-US" sz="2000" b="1" dirty="0"/>
                </a:p>
              </p:txBody>
            </p:sp>
          </mc:Choice>
          <mc:Fallback>
            <p:sp>
              <p:nvSpPr>
                <p:cNvPr id="27" name="TextBox 14">
                  <a:extLst>
                    <a:ext uri="{FF2B5EF4-FFF2-40B4-BE49-F238E27FC236}">
                      <a16:creationId xmlns:a16="http://schemas.microsoft.com/office/drawing/2014/main" id="{535B0309-405F-3041-6DBD-B4CC87E84C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707" y="3891536"/>
                  <a:ext cx="10393533" cy="7985319"/>
                </a:xfrm>
                <a:prstGeom prst="roundRect">
                  <a:avLst>
                    <a:gd name="adj" fmla="val 2326"/>
                  </a:avLst>
                </a:prstGeom>
                <a:blipFill>
                  <a:blip r:embed="rId3"/>
                  <a:stretch>
                    <a:fillRect l="-148" b="-152"/>
                  </a:stretch>
                </a:blipFill>
                <a:ln w="28575">
                  <a:solidFill>
                    <a:srgbClr val="87000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ounded Rectangle 15">
              <a:extLst>
                <a:ext uri="{FF2B5EF4-FFF2-40B4-BE49-F238E27FC236}">
                  <a16:creationId xmlns:a16="http://schemas.microsoft.com/office/drawing/2014/main" id="{A2A88043-78D9-CC90-BA66-E9136403FF2F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VABL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8CC6297-3236-7D9D-805D-0BD46507FC14}"/>
              </a:ext>
            </a:extLst>
          </p:cNvPr>
          <p:cNvGrpSpPr/>
          <p:nvPr/>
        </p:nvGrpSpPr>
        <p:grpSpPr>
          <a:xfrm>
            <a:off x="13064828" y="11986632"/>
            <a:ext cx="8630735" cy="9045377"/>
            <a:chOff x="650909" y="2987891"/>
            <a:chExt cx="10413331" cy="9045377"/>
          </a:xfrm>
        </p:grpSpPr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7D226CE8-1F56-D508-5711-711EB77EBE4D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8141732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endParaRPr lang="en-US" sz="2000" b="1" dirty="0">
                <a:solidFill>
                  <a:srgbClr val="2E7D32"/>
                </a:solidFill>
              </a:endParaRPr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0CB83D09-0957-84C5-E716-5199E9DD03E5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Results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D7DB21C-688D-FF46-CD0F-307B2EBA42EA}"/>
              </a:ext>
            </a:extLst>
          </p:cNvPr>
          <p:cNvGrpSpPr/>
          <p:nvPr/>
        </p:nvGrpSpPr>
        <p:grpSpPr>
          <a:xfrm>
            <a:off x="21893758" y="11986632"/>
            <a:ext cx="10413331" cy="8703548"/>
            <a:chOff x="650909" y="2987891"/>
            <a:chExt cx="10413331" cy="8703548"/>
          </a:xfrm>
        </p:grpSpPr>
        <p:sp>
          <p:nvSpPr>
            <p:cNvPr id="41" name="TextBox 14">
              <a:extLst>
                <a:ext uri="{FF2B5EF4-FFF2-40B4-BE49-F238E27FC236}">
                  <a16:creationId xmlns:a16="http://schemas.microsoft.com/office/drawing/2014/main" id="{384C2F3C-3E9C-3C64-3AEF-4B369CE5FEF3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799903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r>
                <a:rPr lang="en-US" sz="2800" b="1" dirty="0">
                  <a:solidFill>
                    <a:srgbClr val="2E7D32"/>
                  </a:solidFill>
                </a:rPr>
                <a:t>Key Insight</a:t>
              </a:r>
            </a:p>
            <a:p>
              <a:endParaRPr lang="en-US" sz="2400" dirty="0">
                <a:solidFill>
                  <a:srgbClr val="1A1A1A"/>
                </a:solidFill>
              </a:endParaRPr>
            </a:p>
            <a:p>
              <a:r>
                <a:rPr lang="en-US" sz="2400" dirty="0">
                  <a:solidFill>
                    <a:srgbClr val="1A1A1A"/>
                  </a:solidFill>
                </a:rPr>
                <a:t>Every method discovers coordination.</a:t>
              </a:r>
            </a:p>
            <a:p>
              <a:r>
                <a:rPr lang="en-US" sz="2400" b="1" dirty="0">
                  <a:solidFill>
                    <a:srgbClr val="1A1A1A"/>
                  </a:solidFill>
                </a:rPr>
                <a:t>The challenge is keeping it.</a:t>
              </a:r>
            </a:p>
            <a:p>
              <a:pPr>
                <a:spcAft>
                  <a:spcPts val="600"/>
                </a:spcAft>
              </a:pPr>
              <a:endParaRPr lang="en-US" sz="2400" b="1" dirty="0">
                <a:solidFill>
                  <a:srgbClr val="1A1A1A"/>
                </a:solidFill>
              </a:endParaRPr>
            </a:p>
            <a:p>
              <a:r>
                <a:rPr lang="en-US" sz="2000" dirty="0">
                  <a:solidFill>
                    <a:srgbClr val="333333"/>
                  </a:solidFill>
                </a:rPr>
                <a:t>VABL’s auxiliary prediction loss prevents belief drift, sustaining coordination without any communication channel.</a:t>
              </a:r>
            </a:p>
            <a:p>
              <a:endParaRPr lang="en-US" sz="2400" b="1" dirty="0">
                <a:solidFill>
                  <a:srgbClr val="870002"/>
                </a:solidFill>
              </a:endParaRPr>
            </a:p>
            <a:p>
              <a:r>
                <a:rPr lang="en-US" sz="2400" b="1" dirty="0">
                  <a:solidFill>
                    <a:srgbClr val="870002"/>
                  </a:solidFill>
                </a:rPr>
                <a:t>Data Science Contributions</a:t>
              </a:r>
            </a:p>
            <a:p>
              <a:r>
                <a:rPr lang="en-US" sz="2000" dirty="0">
                  <a:solidFill>
                    <a:srgbClr val="333333"/>
                  </a:solidFill>
                </a:rPr>
                <a:t>• Behavioral prediction from sequential </a:t>
              </a:r>
              <a:r>
                <a:rPr lang="en-US" sz="2000" dirty="0">
                  <a:solidFill>
                    <a:srgbClr val="666666"/>
                  </a:solidFill>
                </a:rPr>
                <a:t>observational data (86% accuracy)</a:t>
              </a:r>
            </a:p>
            <a:p>
              <a:r>
                <a:rPr lang="en-US" sz="2000" dirty="0">
                  <a:solidFill>
                    <a:srgbClr val="333333"/>
                  </a:solidFill>
                </a:rPr>
                <a:t>• Self-supervised regularization prevents </a:t>
              </a:r>
              <a:r>
                <a:rPr lang="en-US" sz="2000" dirty="0">
                  <a:solidFill>
                    <a:srgbClr val="666666"/>
                  </a:solidFill>
                </a:rPr>
                <a:t>catastrophic forgetting (2.3× variance ↓)</a:t>
              </a:r>
            </a:p>
            <a:p>
              <a:r>
                <a:rPr lang="en-US" sz="2000" dirty="0">
                  <a:solidFill>
                    <a:srgbClr val="333333"/>
                  </a:solidFill>
                </a:rPr>
                <a:t>• Rigorous evaluation: 5 seeds, 4 baselines, </a:t>
              </a:r>
              <a:r>
                <a:rPr lang="en-US" sz="2000" dirty="0">
                  <a:solidFill>
                    <a:srgbClr val="666666"/>
                  </a:solidFill>
                </a:rPr>
                <a:t>3 environments, 10M-step extended runs.</a:t>
              </a:r>
            </a:p>
            <a:p>
              <a:endParaRPr lang="en-US" sz="2000" dirty="0">
                <a:solidFill>
                  <a:srgbClr val="666666"/>
                </a:solidFill>
              </a:endParaRPr>
            </a:p>
            <a:p>
              <a:r>
                <a:rPr lang="en-US" sz="2400" b="1" dirty="0">
                  <a:solidFill>
                    <a:srgbClr val="870002"/>
                  </a:solidFill>
                </a:rPr>
                <a:t>Applications</a:t>
              </a:r>
            </a:p>
            <a:p>
              <a:r>
                <a:rPr lang="en-US" sz="2000" dirty="0">
                  <a:solidFill>
                    <a:srgbClr val="333333"/>
                  </a:solidFill>
                </a:rPr>
                <a:t>• Warehouse robot fleets</a:t>
              </a:r>
            </a:p>
            <a:p>
              <a:r>
                <a:rPr lang="en-US" sz="2000" dirty="0">
                  <a:solidFill>
                    <a:srgbClr val="333333"/>
                  </a:solidFill>
                </a:rPr>
                <a:t>• Autonomous vehicle coordination</a:t>
              </a:r>
            </a:p>
            <a:p>
              <a:r>
                <a:rPr lang="en-US" sz="2000" dirty="0">
                  <a:solidFill>
                    <a:srgbClr val="333333"/>
                  </a:solidFill>
                </a:rPr>
                <a:t>• Disaster response drone swarms</a:t>
              </a:r>
            </a:p>
            <a:p>
              <a:pPr>
                <a:spcAft>
                  <a:spcPts val="600"/>
                </a:spcAft>
              </a:pPr>
              <a:endParaRPr lang="en-US" sz="2000" dirty="0">
                <a:solidFill>
                  <a:srgbClr val="333333"/>
                </a:solidFill>
              </a:endParaRPr>
            </a:p>
            <a:p>
              <a:r>
                <a:rPr lang="en-US" sz="2000" b="1" dirty="0">
                  <a:solidFill>
                    <a:srgbClr val="870002"/>
                  </a:solidFill>
                </a:rPr>
                <a:t>Future Work</a:t>
              </a:r>
            </a:p>
            <a:p>
              <a:r>
                <a:rPr lang="en-US" dirty="0">
                  <a:solidFill>
                    <a:srgbClr val="666666"/>
                  </a:solidFill>
                </a:rPr>
                <a:t>• Hanabi evaluation: partial observability where agents cannot see their own cards. </a:t>
              </a:r>
            </a:p>
            <a:p>
              <a:r>
                <a:rPr lang="en-US" dirty="0">
                  <a:solidFill>
                    <a:srgbClr val="666666"/>
                  </a:solidFill>
                </a:rPr>
                <a:t>• Scaling to large teams (N&gt;10): sparse attention and hierarchical grouping to reduce quadratic cost.</a:t>
              </a:r>
            </a:p>
            <a:p>
              <a:r>
                <a:rPr lang="en-US" dirty="0">
                  <a:solidFill>
                    <a:srgbClr val="666666"/>
                  </a:solidFill>
                </a:rPr>
                <a:t>• Hybrid communication: combine implicit behavioral inference with selective explicit messaging, using</a:t>
              </a:r>
            </a:p>
            <a:p>
              <a:r>
                <a:rPr lang="en-US" dirty="0">
                  <a:solidFill>
                    <a:srgbClr val="666666"/>
                  </a:solidFill>
                </a:rPr>
                <a:t>  communication only when prediction confidence is low</a:t>
              </a:r>
            </a:p>
          </p:txBody>
        </p:sp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A87A0AAE-A571-EC9B-C031-A1D88CE061A6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Conclusion and Impact</a:t>
              </a:r>
            </a:p>
          </p:txBody>
        </p:sp>
      </p:grpSp>
      <p:pic>
        <p:nvPicPr>
          <p:cNvPr id="4" name="Picture 3" descr="fig_collapse_all_methods.png">
            <a:extLst>
              <a:ext uri="{FF2B5EF4-FFF2-40B4-BE49-F238E27FC236}">
                <a16:creationId xmlns:a16="http://schemas.microsoft.com/office/drawing/2014/main" id="{76892F3E-4FF6-E343-AA12-1F93D287E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54" y="7196451"/>
            <a:ext cx="9614032" cy="3702746"/>
          </a:xfrm>
          <a:prstGeom prst="rect">
            <a:avLst/>
          </a:prstGeom>
        </p:spPr>
      </p:pic>
      <p:pic>
        <p:nvPicPr>
          <p:cNvPr id="5" name="Picture 4" descr="fig_architecture_v2.png">
            <a:extLst>
              <a:ext uri="{FF2B5EF4-FFF2-40B4-BE49-F238E27FC236}">
                <a16:creationId xmlns:a16="http://schemas.microsoft.com/office/drawing/2014/main" id="{0B0C8D36-F3D5-AC02-5F31-B16B0D181D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9" t="13885"/>
          <a:stretch>
            <a:fillRect/>
          </a:stretch>
        </p:blipFill>
        <p:spPr>
          <a:xfrm>
            <a:off x="11599817" y="3988462"/>
            <a:ext cx="13806246" cy="55065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12CAF4-6E75-82EF-2F70-4019E3A0545A}"/>
                  </a:ext>
                </a:extLst>
              </p:cNvPr>
              <p:cNvSpPr txBox="1"/>
              <p:nvPr/>
            </p:nvSpPr>
            <p:spPr>
              <a:xfrm>
                <a:off x="25704376" y="7392910"/>
                <a:ext cx="5293012" cy="837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𝑷𝑷𝑶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sup>
                          </m:sSup>
                          <m:d>
                            <m:dPr>
                              <m:endChr m:val="|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b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), </m:t>
                          </m:r>
                          <m:sSubSup>
                            <m:sSub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12CAF4-6E75-82EF-2F70-4019E3A05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4376" y="7392910"/>
                <a:ext cx="5293012" cy="837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F2299FC-E5FF-E63A-E932-9E052AF9F8F2}"/>
              </a:ext>
            </a:extLst>
          </p:cNvPr>
          <p:cNvSpPr txBox="1"/>
          <p:nvPr/>
        </p:nvSpPr>
        <p:spPr>
          <a:xfrm>
            <a:off x="25945497" y="8583908"/>
            <a:ext cx="47483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 accuracy: 17% (chance) → 86%</a:t>
            </a:r>
          </a:p>
          <a:p>
            <a:r>
              <a:rPr lang="en-US" dirty="0"/>
              <a:t>CTDE paradigm: centralized critic (training), </a:t>
            </a:r>
          </a:p>
          <a:p>
            <a:r>
              <a:rPr lang="en-US" dirty="0"/>
              <a:t>decentralized actors (execution)</a:t>
            </a:r>
          </a:p>
          <a:p>
            <a:r>
              <a:rPr lang="en-US" dirty="0"/>
              <a:t>Overhead: &lt;10% vs MAPPO, ~1.3× parameters</a:t>
            </a:r>
          </a:p>
        </p:txBody>
      </p:sp>
      <p:pic>
        <p:nvPicPr>
          <p:cNvPr id="14" name="Picture 13" descr="fig_ablation_cramped.png">
            <a:extLst>
              <a:ext uri="{FF2B5EF4-FFF2-40B4-BE49-F238E27FC236}">
                <a16:creationId xmlns:a16="http://schemas.microsoft.com/office/drawing/2014/main" id="{2B73D2BA-274F-0C26-81AC-A9CC7ADE8F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94531" y="13003707"/>
            <a:ext cx="7787738" cy="4572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188281C-79D5-445E-A541-4BC3F6EA4E78}"/>
              </a:ext>
            </a:extLst>
          </p:cNvPr>
          <p:cNvSpPr txBox="1"/>
          <p:nvPr/>
        </p:nvSpPr>
        <p:spPr>
          <a:xfrm>
            <a:off x="13906620" y="17480434"/>
            <a:ext cx="919263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A1A1A"/>
                </a:solidFill>
              </a:rPr>
              <a:t>Summary of Key Results (5 seeds, 95% CIs)</a:t>
            </a:r>
          </a:p>
          <a:p>
            <a:endParaRPr lang="en-US" sz="2400" b="1" dirty="0">
              <a:solidFill>
                <a:srgbClr val="1A1A1A"/>
              </a:solidFill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Overcooked: 3.3× higher reward than MAPPO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38% collapse vs 100% (MAPPO, AERIAL)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TarMAC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(comm.): Final 56.6 but 88% collapse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5-agent: VABL 95.7±3.3 vs MAPPO 84.0±10.4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10M steps: MAPPO collapses to zero reward</a:t>
            </a:r>
          </a:p>
          <a:p>
            <a:endParaRPr lang="en-US" b="1" dirty="0">
              <a:solidFill>
                <a:srgbClr val="2E7D32"/>
              </a:solidFill>
            </a:endParaRPr>
          </a:p>
          <a:p>
            <a:r>
              <a:rPr lang="en-US" sz="2000" b="1" dirty="0">
                <a:solidFill>
                  <a:srgbClr val="2E7D32"/>
                </a:solidFill>
              </a:rPr>
              <a:t>Cramped Room ablation shows: </a:t>
            </a:r>
          </a:p>
          <a:p>
            <a:r>
              <a:rPr lang="en-US" sz="2000" b="1" dirty="0">
                <a:solidFill>
                  <a:srgbClr val="2E7D32"/>
                </a:solidFill>
              </a:rPr>
              <a:t>Full VABL = highest peak (1030±70), lowest variance.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99A22E-75C9-8336-0810-6774C7D624FA}"/>
              </a:ext>
            </a:extLst>
          </p:cNvPr>
          <p:cNvGrpSpPr/>
          <p:nvPr/>
        </p:nvGrpSpPr>
        <p:grpSpPr>
          <a:xfrm>
            <a:off x="554721" y="11974487"/>
            <a:ext cx="12292114" cy="9045377"/>
            <a:chOff x="650909" y="2987891"/>
            <a:chExt cx="10413331" cy="9045377"/>
          </a:xfrm>
        </p:grpSpPr>
        <p:sp>
          <p:nvSpPr>
            <p:cNvPr id="20" name="TextBox 14">
              <a:extLst>
                <a:ext uri="{FF2B5EF4-FFF2-40B4-BE49-F238E27FC236}">
                  <a16:creationId xmlns:a16="http://schemas.microsoft.com/office/drawing/2014/main" id="{1CAC97F7-6E3F-7144-9A43-0727059C0284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8141732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endParaRPr lang="en-US" sz="2000" b="1" dirty="0">
                <a:solidFill>
                  <a:srgbClr val="2E7D32"/>
                </a:solidFill>
              </a:endParaRPr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21" name="Rounded Rectangle 15">
              <a:extLst>
                <a:ext uri="{FF2B5EF4-FFF2-40B4-BE49-F238E27FC236}">
                  <a16:creationId xmlns:a16="http://schemas.microsoft.com/office/drawing/2014/main" id="{D70455E5-E3AC-C9CB-DDDF-1FC66FDE8978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Environments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AAED6930-3687-0696-80EF-20C62BA079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3806" y="12906384"/>
            <a:ext cx="5824740" cy="539497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6A31764-712F-8EA9-9327-ABD17CF972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456" y="12943132"/>
            <a:ext cx="5446056" cy="588134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8E4636E-8182-AE4A-0C52-D60FBA791EF1}"/>
              </a:ext>
            </a:extLst>
          </p:cNvPr>
          <p:cNvSpPr txBox="1"/>
          <p:nvPr/>
        </p:nvSpPr>
        <p:spPr>
          <a:xfrm>
            <a:off x="883855" y="18735628"/>
            <a:ext cx="1178469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000" b="1" dirty="0"/>
              <a:t>Simple Coordination </a:t>
            </a:r>
            <a:r>
              <a:rPr lang="en-US" b="1" dirty="0"/>
              <a:t>-</a:t>
            </a:r>
            <a:r>
              <a:rPr lang="en-US" dirty="0"/>
              <a:t> 3-5 agents must synchronize actions under stochastic partial visibility (p=0.7). Reward for matching the target action. Tests selective attention with multiple teammates.</a:t>
            </a:r>
          </a:p>
          <a:p>
            <a:r>
              <a:rPr lang="en-US" dirty="0"/>
              <a:t> </a:t>
            </a:r>
          </a:p>
          <a:p>
            <a:r>
              <a:rPr lang="en-US" sz="2000" b="1" dirty="0"/>
              <a:t> Overcooked-AI</a:t>
            </a:r>
            <a:r>
              <a:rPr lang="en-US" sz="2000" dirty="0"/>
              <a:t> </a:t>
            </a:r>
            <a:r>
              <a:rPr lang="en-US" dirty="0"/>
              <a:t>- 2 agents cooperate in a kitchen: pick onions, cook soup, plate, and deliver. Requires implicit role</a:t>
            </a:r>
          </a:p>
          <a:p>
            <a:r>
              <a:rPr lang="en-US" dirty="0"/>
              <a:t>  assignment (who gets ingredients vs who delivers). 6 actions, horizon 400 steps.</a:t>
            </a:r>
          </a:p>
          <a:p>
            <a:endParaRPr lang="en-US" dirty="0"/>
          </a:p>
          <a:p>
            <a:r>
              <a:rPr lang="en-US" dirty="0"/>
              <a:t>  Both environments test coordination without communication channels.</a:t>
            </a:r>
          </a:p>
        </p:txBody>
      </p:sp>
    </p:spTree>
    <p:extLst>
      <p:ext uri="{BB962C8B-B14F-4D97-AF65-F5344CB8AC3E}">
        <p14:creationId xmlns:p14="http://schemas.microsoft.com/office/powerpoint/2010/main" val="24254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49FD-FEBD-F933-9E97-54AD794F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D76D8275-7141-6AE1-CC4A-EE2AD5D6DF00}"/>
              </a:ext>
            </a:extLst>
          </p:cNvPr>
          <p:cNvSpPr txBox="1"/>
          <p:nvPr/>
        </p:nvSpPr>
        <p:spPr>
          <a:xfrm>
            <a:off x="2294559" y="21204581"/>
            <a:ext cx="28795041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0960" tIns="30480" rIns="60960" bIns="30480" anchor="t" anchorCtr="0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870002"/>
                </a:solidFill>
              </a:rPr>
              <a:t>Acknowledgement</a:t>
            </a:r>
            <a:r>
              <a:rPr lang="en-US" sz="2000" dirty="0">
                <a:solidFill>
                  <a:srgbClr val="000000"/>
                </a:solidFill>
              </a:rPr>
              <a:t>. 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870002"/>
                </a:solidFill>
              </a:rPr>
              <a:t>Contact Information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C2A3D8C-E46C-B98A-AC27-F526FFD6600A}"/>
              </a:ext>
            </a:extLst>
          </p:cNvPr>
          <p:cNvCxnSpPr>
            <a:cxnSpLocks/>
          </p:cNvCxnSpPr>
          <p:nvPr/>
        </p:nvCxnSpPr>
        <p:spPr>
          <a:xfrm>
            <a:off x="640080" y="21117496"/>
            <a:ext cx="31851600" cy="0"/>
          </a:xfrm>
          <a:prstGeom prst="line">
            <a:avLst/>
          </a:prstGeom>
          <a:ln w="57150">
            <a:solidFill>
              <a:srgbClr val="8700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3423C5-A5AD-021A-8EE6-E086221214D4}"/>
              </a:ext>
            </a:extLst>
          </p:cNvPr>
          <p:cNvSpPr/>
          <p:nvPr/>
        </p:nvSpPr>
        <p:spPr>
          <a:xfrm>
            <a:off x="0" y="0"/>
            <a:ext cx="32918400" cy="2607480"/>
          </a:xfrm>
          <a:prstGeom prst="rect">
            <a:avLst/>
          </a:prstGeom>
          <a:solidFill>
            <a:srgbClr val="8700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 dirty="0"/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217BD0E7-27BF-D36A-2F75-5DFB9D4A7307}"/>
              </a:ext>
            </a:extLst>
          </p:cNvPr>
          <p:cNvSpPr/>
          <p:nvPr/>
        </p:nvSpPr>
        <p:spPr>
          <a:xfrm>
            <a:off x="9348174" y="380411"/>
            <a:ext cx="14222052" cy="18466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Project Title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First Author 1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, Author 2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2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, Author 3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, Author 4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 </a:t>
            </a: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Affiliation Details,</a:t>
            </a:r>
            <a:r>
              <a:rPr lang="en-US" sz="32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 2 </a:t>
            </a: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Affiliation Details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FAE46C-63EF-2B6D-D4BD-038FB3E6D296}"/>
              </a:ext>
            </a:extLst>
          </p:cNvPr>
          <p:cNvGrpSpPr/>
          <p:nvPr/>
        </p:nvGrpSpPr>
        <p:grpSpPr>
          <a:xfrm>
            <a:off x="29161366" y="573478"/>
            <a:ext cx="3064963" cy="2018173"/>
            <a:chOff x="38586497" y="846117"/>
            <a:chExt cx="4597445" cy="3027260"/>
          </a:xfrm>
        </p:grpSpPr>
        <p:sp>
          <p:nvSpPr>
            <p:cNvPr id="24" name="Rectangle 57">
              <a:extLst>
                <a:ext uri="{FF2B5EF4-FFF2-40B4-BE49-F238E27FC236}">
                  <a16:creationId xmlns:a16="http://schemas.microsoft.com/office/drawing/2014/main" id="{6CC55CE7-BAC4-07C3-CDB4-61B222BC817A}"/>
                </a:ext>
              </a:extLst>
            </p:cNvPr>
            <p:cNvSpPr/>
            <p:nvPr/>
          </p:nvSpPr>
          <p:spPr>
            <a:xfrm>
              <a:off x="38586497" y="2950047"/>
              <a:ext cx="4597445" cy="92333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6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Poster ID: ###</a:t>
              </a:r>
            </a:p>
          </p:txBody>
        </p:sp>
        <p:sp>
          <p:nvSpPr>
            <p:cNvPr id="26" name="Rectangle 57">
              <a:extLst>
                <a:ext uri="{FF2B5EF4-FFF2-40B4-BE49-F238E27FC236}">
                  <a16:creationId xmlns:a16="http://schemas.microsoft.com/office/drawing/2014/main" id="{0EF44E84-D26C-734E-6812-E51814766526}"/>
                </a:ext>
              </a:extLst>
            </p:cNvPr>
            <p:cNvSpPr/>
            <p:nvPr/>
          </p:nvSpPr>
          <p:spPr>
            <a:xfrm>
              <a:off x="39486250" y="846117"/>
              <a:ext cx="2797941" cy="1908215"/>
            </a:xfrm>
            <a:prstGeom prst="rect">
              <a:avLst/>
            </a:prstGeom>
            <a:noFill/>
            <a:ln cap="flat">
              <a:solidFill>
                <a:schemeClr val="bg1"/>
              </a:solidFill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QR CODE</a:t>
              </a:r>
            </a:p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To Online submission</a:t>
              </a:r>
            </a:p>
          </p:txBody>
        </p:sp>
      </p:grpSp>
      <p:sp>
        <p:nvSpPr>
          <p:cNvPr id="34" name="Rectangle 57">
            <a:extLst>
              <a:ext uri="{FF2B5EF4-FFF2-40B4-BE49-F238E27FC236}">
                <a16:creationId xmlns:a16="http://schemas.microsoft.com/office/drawing/2014/main" id="{7BF7717F-9001-A47F-680A-A73564EEA234}"/>
              </a:ext>
            </a:extLst>
          </p:cNvPr>
          <p:cNvSpPr/>
          <p:nvPr/>
        </p:nvSpPr>
        <p:spPr>
          <a:xfrm>
            <a:off x="402319" y="380411"/>
            <a:ext cx="2201241" cy="1831912"/>
          </a:xfrm>
          <a:prstGeom prst="rect">
            <a:avLst/>
          </a:prstGeom>
          <a:noFill/>
          <a:ln cap="flat">
            <a:solidFill>
              <a:schemeClr val="bg1"/>
            </a:solidFill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Logo </a:t>
            </a:r>
          </a:p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if any</a:t>
            </a:r>
            <a:endParaRPr lang="en-US" sz="4800" b="1" dirty="0">
              <a:solidFill>
                <a:schemeClr val="bg1"/>
              </a:solidFill>
              <a:latin typeface="Calibri"/>
              <a:ea typeface="等线"/>
              <a:cs typeface="Calibri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D709E-47B3-E4B7-B0E8-C23313C6D490}"/>
              </a:ext>
            </a:extLst>
          </p:cNvPr>
          <p:cNvGrpSpPr/>
          <p:nvPr/>
        </p:nvGrpSpPr>
        <p:grpSpPr>
          <a:xfrm>
            <a:off x="650909" y="2987891"/>
            <a:ext cx="10413331" cy="8734624"/>
            <a:chOff x="650909" y="2987891"/>
            <a:chExt cx="10413331" cy="8734624"/>
          </a:xfrm>
        </p:grpSpPr>
        <p:sp>
          <p:nvSpPr>
            <p:cNvPr id="2" name="TextBox 14">
              <a:extLst>
                <a:ext uri="{FF2B5EF4-FFF2-40B4-BE49-F238E27FC236}">
                  <a16:creationId xmlns:a16="http://schemas.microsoft.com/office/drawing/2014/main" id="{F2BF50F8-3008-5EF5-565A-A037660F9EF4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" name="Rounded Rectangle 15">
              <a:extLst>
                <a:ext uri="{FF2B5EF4-FFF2-40B4-BE49-F238E27FC236}">
                  <a16:creationId xmlns:a16="http://schemas.microsoft.com/office/drawing/2014/main" id="{038AA21D-4FFD-1F57-377A-0654E4CFE044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FCEED2-3276-DB35-A36B-3C9BC67AA442}"/>
              </a:ext>
            </a:extLst>
          </p:cNvPr>
          <p:cNvGrpSpPr/>
          <p:nvPr/>
        </p:nvGrpSpPr>
        <p:grpSpPr>
          <a:xfrm>
            <a:off x="11262434" y="2987891"/>
            <a:ext cx="20963895" cy="8734624"/>
            <a:chOff x="650909" y="2987891"/>
            <a:chExt cx="10413331" cy="8734624"/>
          </a:xfrm>
        </p:grpSpPr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AAD973E7-88F0-C479-4D53-C9FEBF41C496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28" name="Rounded Rectangle 15">
              <a:extLst>
                <a:ext uri="{FF2B5EF4-FFF2-40B4-BE49-F238E27FC236}">
                  <a16:creationId xmlns:a16="http://schemas.microsoft.com/office/drawing/2014/main" id="{B16AD649-830E-04FA-C941-2B9E128B1A5B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F1F8B4-1598-8635-601D-A62CE912FD76}"/>
              </a:ext>
            </a:extLst>
          </p:cNvPr>
          <p:cNvGrpSpPr/>
          <p:nvPr/>
        </p:nvGrpSpPr>
        <p:grpSpPr>
          <a:xfrm>
            <a:off x="670707" y="11986632"/>
            <a:ext cx="10413331" cy="8734624"/>
            <a:chOff x="650909" y="2987891"/>
            <a:chExt cx="10413331" cy="8734624"/>
          </a:xfrm>
        </p:grpSpPr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C9D28CD7-2E60-98DC-0396-DCD2824E64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5" name="Rounded Rectangle 15">
              <a:extLst>
                <a:ext uri="{FF2B5EF4-FFF2-40B4-BE49-F238E27FC236}">
                  <a16:creationId xmlns:a16="http://schemas.microsoft.com/office/drawing/2014/main" id="{93413C1D-48A0-8096-870D-102DBF6617C0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53842B7-68E1-E7B1-B1B9-B4AD4E884D4F}"/>
              </a:ext>
            </a:extLst>
          </p:cNvPr>
          <p:cNvGrpSpPr/>
          <p:nvPr/>
        </p:nvGrpSpPr>
        <p:grpSpPr>
          <a:xfrm>
            <a:off x="11282232" y="11986632"/>
            <a:ext cx="10413331" cy="8734624"/>
            <a:chOff x="650909" y="2987891"/>
            <a:chExt cx="10413331" cy="8734624"/>
          </a:xfrm>
        </p:grpSpPr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7772EC3D-1388-91F3-B79A-4860F1BE677F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A4F942D2-2122-B617-CAB7-77376E729975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A4706FF-BC15-16D2-6430-AACCA5A148C6}"/>
              </a:ext>
            </a:extLst>
          </p:cNvPr>
          <p:cNvGrpSpPr/>
          <p:nvPr/>
        </p:nvGrpSpPr>
        <p:grpSpPr>
          <a:xfrm>
            <a:off x="21893758" y="11986632"/>
            <a:ext cx="10413331" cy="8734624"/>
            <a:chOff x="650909" y="2987891"/>
            <a:chExt cx="10413331" cy="8734624"/>
          </a:xfrm>
        </p:grpSpPr>
        <p:sp>
          <p:nvSpPr>
            <p:cNvPr id="41" name="TextBox 14">
              <a:extLst>
                <a:ext uri="{FF2B5EF4-FFF2-40B4-BE49-F238E27FC236}">
                  <a16:creationId xmlns:a16="http://schemas.microsoft.com/office/drawing/2014/main" id="{856F57B8-3AE3-B432-5B16-CA851E2C0F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65B57A5-586C-ED2F-EA67-C2F03B4A28F7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6541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107A-5031-A8B8-16F6-4FBB5BE8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3778D649-DBC9-5FB5-C00D-3E4A2854F81A}"/>
              </a:ext>
            </a:extLst>
          </p:cNvPr>
          <p:cNvSpPr txBox="1"/>
          <p:nvPr/>
        </p:nvSpPr>
        <p:spPr>
          <a:xfrm>
            <a:off x="2294559" y="21204581"/>
            <a:ext cx="28795041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0960" tIns="30480" rIns="60960" bIns="30480" anchor="t" anchorCtr="0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870002"/>
                </a:solidFill>
              </a:rPr>
              <a:t>Acknowledgement</a:t>
            </a:r>
            <a:r>
              <a:rPr lang="en-US" sz="2000" dirty="0">
                <a:solidFill>
                  <a:srgbClr val="000000"/>
                </a:solidFill>
              </a:rPr>
              <a:t>. 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870002"/>
                </a:solidFill>
              </a:rPr>
              <a:t>Contact Information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735A4A9-2153-DC7E-CA31-D5D646B52D4B}"/>
              </a:ext>
            </a:extLst>
          </p:cNvPr>
          <p:cNvCxnSpPr>
            <a:cxnSpLocks/>
          </p:cNvCxnSpPr>
          <p:nvPr/>
        </p:nvCxnSpPr>
        <p:spPr>
          <a:xfrm>
            <a:off x="640080" y="21117496"/>
            <a:ext cx="31851600" cy="0"/>
          </a:xfrm>
          <a:prstGeom prst="line">
            <a:avLst/>
          </a:prstGeom>
          <a:ln w="57150">
            <a:solidFill>
              <a:srgbClr val="8700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EC45F24-8744-3806-BAEA-5D25548ABB54}"/>
              </a:ext>
            </a:extLst>
          </p:cNvPr>
          <p:cNvSpPr/>
          <p:nvPr/>
        </p:nvSpPr>
        <p:spPr>
          <a:xfrm>
            <a:off x="0" y="0"/>
            <a:ext cx="32918400" cy="2607480"/>
          </a:xfrm>
          <a:prstGeom prst="rect">
            <a:avLst/>
          </a:prstGeom>
          <a:solidFill>
            <a:srgbClr val="8700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 dirty="0"/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D8DDFF66-B5B8-51AD-762F-58DED9527421}"/>
              </a:ext>
            </a:extLst>
          </p:cNvPr>
          <p:cNvSpPr/>
          <p:nvPr/>
        </p:nvSpPr>
        <p:spPr>
          <a:xfrm>
            <a:off x="9348174" y="380411"/>
            <a:ext cx="14222052" cy="18466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Project Title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First Author 1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, Author 2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2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, Author 3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, Author 4</a:t>
            </a:r>
            <a:r>
              <a:rPr lang="en-US" sz="36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</a:t>
            </a:r>
          </a:p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1 </a:t>
            </a: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Affiliation Details,</a:t>
            </a:r>
            <a:r>
              <a:rPr lang="en-US" sz="3200" b="1" baseline="30000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 2 </a:t>
            </a: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Affiliation Details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5F3AF7A-3F5F-846E-12A2-2E650AD68B09}"/>
              </a:ext>
            </a:extLst>
          </p:cNvPr>
          <p:cNvGrpSpPr/>
          <p:nvPr/>
        </p:nvGrpSpPr>
        <p:grpSpPr>
          <a:xfrm>
            <a:off x="29161366" y="573478"/>
            <a:ext cx="3064963" cy="2018173"/>
            <a:chOff x="38586497" y="846117"/>
            <a:chExt cx="4597445" cy="3027260"/>
          </a:xfrm>
        </p:grpSpPr>
        <p:sp>
          <p:nvSpPr>
            <p:cNvPr id="24" name="Rectangle 57">
              <a:extLst>
                <a:ext uri="{FF2B5EF4-FFF2-40B4-BE49-F238E27FC236}">
                  <a16:creationId xmlns:a16="http://schemas.microsoft.com/office/drawing/2014/main" id="{0D968CA4-C6EE-3237-06F1-788D20C30F26}"/>
                </a:ext>
              </a:extLst>
            </p:cNvPr>
            <p:cNvSpPr/>
            <p:nvPr/>
          </p:nvSpPr>
          <p:spPr>
            <a:xfrm>
              <a:off x="38586497" y="2950047"/>
              <a:ext cx="4597445" cy="92333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6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Poster ID: ###</a:t>
              </a:r>
            </a:p>
          </p:txBody>
        </p:sp>
        <p:sp>
          <p:nvSpPr>
            <p:cNvPr id="26" name="Rectangle 57">
              <a:extLst>
                <a:ext uri="{FF2B5EF4-FFF2-40B4-BE49-F238E27FC236}">
                  <a16:creationId xmlns:a16="http://schemas.microsoft.com/office/drawing/2014/main" id="{00F2D36A-D2A9-5B02-7318-000A67882DA2}"/>
                </a:ext>
              </a:extLst>
            </p:cNvPr>
            <p:cNvSpPr/>
            <p:nvPr/>
          </p:nvSpPr>
          <p:spPr>
            <a:xfrm>
              <a:off x="39486250" y="846117"/>
              <a:ext cx="2797941" cy="1908215"/>
            </a:xfrm>
            <a:prstGeom prst="rect">
              <a:avLst/>
            </a:prstGeom>
            <a:noFill/>
            <a:ln cap="flat">
              <a:solidFill>
                <a:schemeClr val="bg1"/>
              </a:solidFill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QR CODE</a:t>
              </a:r>
            </a:p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To Online submission</a:t>
              </a:r>
            </a:p>
          </p:txBody>
        </p:sp>
      </p:grpSp>
      <p:sp>
        <p:nvSpPr>
          <p:cNvPr id="34" name="Rectangle 57">
            <a:extLst>
              <a:ext uri="{FF2B5EF4-FFF2-40B4-BE49-F238E27FC236}">
                <a16:creationId xmlns:a16="http://schemas.microsoft.com/office/drawing/2014/main" id="{1A8B80DC-7135-BEBC-31F2-CC101BB29844}"/>
              </a:ext>
            </a:extLst>
          </p:cNvPr>
          <p:cNvSpPr/>
          <p:nvPr/>
        </p:nvSpPr>
        <p:spPr>
          <a:xfrm>
            <a:off x="402319" y="380411"/>
            <a:ext cx="2201241" cy="1831912"/>
          </a:xfrm>
          <a:prstGeom prst="rect">
            <a:avLst/>
          </a:prstGeom>
          <a:noFill/>
          <a:ln cap="flat">
            <a:solidFill>
              <a:schemeClr val="bg1"/>
            </a:solidFill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Logo </a:t>
            </a:r>
          </a:p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dirty="0">
                <a:solidFill>
                  <a:schemeClr val="bg1"/>
                </a:solidFill>
                <a:latin typeface="Calibri"/>
                <a:ea typeface="等线"/>
                <a:cs typeface="Calibri"/>
              </a:rPr>
              <a:t>if any</a:t>
            </a:r>
            <a:endParaRPr lang="en-US" sz="4800" b="1" dirty="0">
              <a:solidFill>
                <a:schemeClr val="bg1"/>
              </a:solidFill>
              <a:latin typeface="Calibri"/>
              <a:ea typeface="等线"/>
              <a:cs typeface="Calibri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291E36E-3830-B1BC-3399-F2E2A7C23ADA}"/>
              </a:ext>
            </a:extLst>
          </p:cNvPr>
          <p:cNvGrpSpPr/>
          <p:nvPr/>
        </p:nvGrpSpPr>
        <p:grpSpPr>
          <a:xfrm>
            <a:off x="650909" y="2987891"/>
            <a:ext cx="9559891" cy="8734624"/>
            <a:chOff x="650909" y="2987891"/>
            <a:chExt cx="10413331" cy="8734624"/>
          </a:xfrm>
        </p:grpSpPr>
        <p:sp>
          <p:nvSpPr>
            <p:cNvPr id="2" name="TextBox 14">
              <a:extLst>
                <a:ext uri="{FF2B5EF4-FFF2-40B4-BE49-F238E27FC236}">
                  <a16:creationId xmlns:a16="http://schemas.microsoft.com/office/drawing/2014/main" id="{2AB70E4E-7EDE-D914-E96F-F4060602FE71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" name="Rounded Rectangle 15">
              <a:extLst>
                <a:ext uri="{FF2B5EF4-FFF2-40B4-BE49-F238E27FC236}">
                  <a16:creationId xmlns:a16="http://schemas.microsoft.com/office/drawing/2014/main" id="{08C5B225-A6D5-745C-B19C-59F28054579C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7DBCFCC-AB8C-415E-6BA3-F1E6EAEC6C1A}"/>
              </a:ext>
            </a:extLst>
          </p:cNvPr>
          <p:cNvGrpSpPr/>
          <p:nvPr/>
        </p:nvGrpSpPr>
        <p:grpSpPr>
          <a:xfrm>
            <a:off x="10668000" y="2987891"/>
            <a:ext cx="21558329" cy="10391974"/>
            <a:chOff x="650909" y="2987891"/>
            <a:chExt cx="10413331" cy="10391974"/>
          </a:xfrm>
        </p:grpSpPr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3A215105-B619-7BE8-CC5D-6DF3EC2616B3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948832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28" name="Rounded Rectangle 15">
              <a:extLst>
                <a:ext uri="{FF2B5EF4-FFF2-40B4-BE49-F238E27FC236}">
                  <a16:creationId xmlns:a16="http://schemas.microsoft.com/office/drawing/2014/main" id="{3ADB710C-70BF-7E10-2317-E3AD807E8944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9C1052D-D962-2068-E16E-93FB543283E2}"/>
              </a:ext>
            </a:extLst>
          </p:cNvPr>
          <p:cNvGrpSpPr/>
          <p:nvPr/>
        </p:nvGrpSpPr>
        <p:grpSpPr>
          <a:xfrm>
            <a:off x="670707" y="11986632"/>
            <a:ext cx="9540093" cy="8734624"/>
            <a:chOff x="650909" y="2987891"/>
            <a:chExt cx="10413331" cy="8734624"/>
          </a:xfrm>
        </p:grpSpPr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C2FFE445-EE02-B4B3-D6A9-4190FC5F514A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5" name="Rounded Rectangle 15">
              <a:extLst>
                <a:ext uri="{FF2B5EF4-FFF2-40B4-BE49-F238E27FC236}">
                  <a16:creationId xmlns:a16="http://schemas.microsoft.com/office/drawing/2014/main" id="{890B7920-A7EB-7BAE-63E1-C0AC31D12D04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5F11938-A4A8-2B55-CE19-90A51E5C99A1}"/>
              </a:ext>
            </a:extLst>
          </p:cNvPr>
          <p:cNvGrpSpPr/>
          <p:nvPr/>
        </p:nvGrpSpPr>
        <p:grpSpPr>
          <a:xfrm>
            <a:off x="10708987" y="13659812"/>
            <a:ext cx="10413653" cy="7077274"/>
            <a:chOff x="650909" y="2987891"/>
            <a:chExt cx="10413331" cy="7077274"/>
          </a:xfrm>
        </p:grpSpPr>
        <p:sp>
          <p:nvSpPr>
            <p:cNvPr id="5" name="TextBox 14">
              <a:extLst>
                <a:ext uri="{FF2B5EF4-FFF2-40B4-BE49-F238E27FC236}">
                  <a16:creationId xmlns:a16="http://schemas.microsoft.com/office/drawing/2014/main" id="{52D4B477-00B9-9077-7069-1CA51157B1AC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617362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6" name="Rounded Rectangle 15">
              <a:extLst>
                <a:ext uri="{FF2B5EF4-FFF2-40B4-BE49-F238E27FC236}">
                  <a16:creationId xmlns:a16="http://schemas.microsoft.com/office/drawing/2014/main" id="{22D99801-D310-C4BE-0327-9DE15E1B930A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040418A-7896-AD96-4429-E38056E41D85}"/>
              </a:ext>
            </a:extLst>
          </p:cNvPr>
          <p:cNvGrpSpPr/>
          <p:nvPr/>
        </p:nvGrpSpPr>
        <p:grpSpPr>
          <a:xfrm>
            <a:off x="21812676" y="13710043"/>
            <a:ext cx="10413653" cy="7077274"/>
            <a:chOff x="650909" y="2987891"/>
            <a:chExt cx="10413331" cy="7077274"/>
          </a:xfrm>
        </p:grpSpPr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76A39CEA-6A51-1219-AD91-3E109C803A4B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617362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10" name="Rounded Rectangle 15">
              <a:extLst>
                <a:ext uri="{FF2B5EF4-FFF2-40B4-BE49-F238E27FC236}">
                  <a16:creationId xmlns:a16="http://schemas.microsoft.com/office/drawing/2014/main" id="{F9E6FE78-7D55-29AC-1915-5196A382547D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7733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4b9393-3a63-4fb0-b504-491aeaec59ea">
      <Terms xmlns="http://schemas.microsoft.com/office/infopath/2007/PartnerControls"/>
    </lcf76f155ced4ddcb4097134ff3c332f>
    <TaxCatchAll xmlns="1a06f832-0cff-4cdb-abec-3b86518291b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5DC1D04D61A94E99EF3D5719243FB9" ma:contentTypeVersion="10" ma:contentTypeDescription="Create a new document." ma:contentTypeScope="" ma:versionID="06fdd9913ec38ea6c536bd43977d9c18">
  <xsd:schema xmlns:xsd="http://www.w3.org/2001/XMLSchema" xmlns:xs="http://www.w3.org/2001/XMLSchema" xmlns:p="http://schemas.microsoft.com/office/2006/metadata/properties" xmlns:ns2="a94b9393-3a63-4fb0-b504-491aeaec59ea" xmlns:ns3="1a06f832-0cff-4cdb-abec-3b86518291bb" targetNamespace="http://schemas.microsoft.com/office/2006/metadata/properties" ma:root="true" ma:fieldsID="2459a7c07bbd612434c6f6a00f280a05" ns2:_="" ns3:_="">
    <xsd:import namespace="a94b9393-3a63-4fb0-b504-491aeaec59ea"/>
    <xsd:import namespace="1a06f832-0cff-4cdb-abec-3b8651829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b9393-3a63-4fb0-b504-491aeaec59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1ab900-2ec0-4401-a445-b65711cd6e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6f832-0cff-4cdb-abec-3b86518291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d391199-53b5-417f-aaff-abec2eea2f35}" ma:internalName="TaxCatchAll" ma:showField="CatchAllData" ma:web="1a06f832-0cff-4cdb-abec-3b8651829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20DFF8-CB66-40FF-BF90-2A3AD0F51832}">
  <ds:schemaRefs>
    <ds:schemaRef ds:uri="http://schemas.microsoft.com/office/2006/metadata/properties"/>
    <ds:schemaRef ds:uri="http://schemas.microsoft.com/office/infopath/2007/PartnerControls"/>
    <ds:schemaRef ds:uri="a94b9393-3a63-4fb0-b504-491aeaec59ea"/>
    <ds:schemaRef ds:uri="1a06f832-0cff-4cdb-abec-3b86518291bb"/>
  </ds:schemaRefs>
</ds:datastoreItem>
</file>

<file path=customXml/itemProps2.xml><?xml version="1.0" encoding="utf-8"?>
<ds:datastoreItem xmlns:ds="http://schemas.openxmlformats.org/officeDocument/2006/customXml" ds:itemID="{449183F3-593C-4597-A875-D6D1E2043D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3F0816-2263-4C52-8658-14DE2C0290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4b9393-3a63-4fb0-b504-491aeaec59ea"/>
    <ds:schemaRef ds:uri="1a06f832-0cff-4cdb-abec-3b86518291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14476</TotalTime>
  <Words>738</Words>
  <Application>Microsoft Office PowerPoint</Application>
  <PresentationFormat>Custom</PresentationFormat>
  <Paragraphs>421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Zachary Brecheisen</dc:creator>
  <cp:lastModifiedBy>Kadiyala, Vishnu P.</cp:lastModifiedBy>
  <cp:revision>350</cp:revision>
  <dcterms:created xsi:type="dcterms:W3CDTF">2019-01-08T21:13:45Z</dcterms:created>
  <dcterms:modified xsi:type="dcterms:W3CDTF">2026-04-01T15:06:58Z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0x0101007F5DC1D04D61A94E99EF3D5719243FB9</vt:lpwstr>
  </property>
  <property fmtid="{D5CDD505-2E9C-101B-9397-08002B2CF9AE}" pid="3" name="MediaServiceImageTags">
    <vt:lpwstr/>
  </property>
</Properties>
</file>
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>
        <p:scale>
          <a:sx n="33" d="100"/>
          <a:sy n="33" d="100"/>
        </p:scale>
        <p:origin x="19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300">
                <a:solidFill>
                  <a:srgbClr val="808080"/>
                </a:solidFill>
              </a:rPr>
              <a:t>Contact: vishnupk@ou.edu   │   github.com/vishnukadiyala/vabl-multi-agent-coordination   │   DISC 2026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3600" b="1">
                <a:solidFill>
                  <a:srgbClr val="FFFFFF"/>
                </a:solidFill>
              </a:rPr>
              <a:t>Learning to Coordinate Without Talking</a:t>
            </a:r>
          </a:p>
          <a:p>
            <a:pPr algn="ctr"/>
            <a:r>
              <a:rPr sz="2400">
                <a:solidFill>
                  <a:srgbClr val="FFD5D5"/>
                </a:solidFill>
              </a:rPr>
              <a:t>Data-Driven Belief Models for Robust Multi-Agent Coordination</a:t>
            </a:r>
          </a:p>
          <a:p>
            <a:pPr algn="ctr"/>
            <a:r>
              <a:rPr sz="1600">
                <a:solidFill>
                  <a:srgbClr val="E0E0E0"/>
                </a:solidFill>
              </a:rPr>
              <a:t>Vishnu Kadiyala, Mohammed Atiquzzaman  — 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7BF7717F-9001-A47F-680A-A73564EEA23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>
                <a:solidFill>
                  <a:srgbClr val="FFFFFF"/>
                </a:solidFill>
              </a:rPr>
              <a:t>OU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933" b="1" dirty="0">
                  <a:solidFill>
                    <a:srgbClr val="FFFFFF"/>
                  </a:solidFill>
                  <a:latin typeface="Calibri"/>
                </a:rPr>
                <a:t>SECTION NAME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69264" y="4050791"/>
            <a:ext cx="95006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2D2D"/>
                </a:solidFill>
              </a:rPr>
              <a:t>Can AI agents learn to coordinate</a:t>
            </a:r>
          </a:p>
          <a:p>
            <a:r>
              <a:rPr sz="2000" b="1">
                <a:solidFill>
                  <a:srgbClr val="2D2D2D"/>
                </a:solidFill>
              </a:rPr>
              <a:t>without communicating?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9264" y="5669280"/>
            <a:ext cx="9500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A quarterback reads the safety, sees his receiver</a:t>
            </a:r>
          </a:p>
          <a:p>
            <a:r>
              <a:rPr sz="1500" b="0">
                <a:solidFill>
                  <a:srgbClr val="404040"/>
                </a:solidFill>
              </a:rPr>
              <a:t>break right, and throws — no audible needed.</a:t>
            </a:r>
          </a:p>
          <a:p>
            <a:r>
              <a:rPr sz="1500" b="1">
                <a:solidFill>
                  <a:srgbClr val="404040"/>
                </a:solidFill>
              </a:rPr>
              <a:t>He coordinates by predicting, not communicating.</a:t>
            </a:r>
          </a:p>
          <a:p>
            <a:r>
              <a:rPr sz="1500" b="1">
                <a:solidFill>
                  <a:srgbClr val="2E7D32"/>
                </a:solidFill>
              </a:rPr>
              <a:t>VABL teaches AI agents the same skill.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264" y="7223760"/>
            <a:ext cx="9500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70002"/>
                </a:solidFill>
              </a:rPr>
              <a:t>The Hidden Problem: Coordination Collapse</a:t>
            </a:r>
          </a:p>
        </p:txBody>
      </p:sp>
      <p:pic>
        <p:nvPicPr>
          <p:cNvPr id="86" name="Picture 85" descr="fig_collapse_all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7726679"/>
            <a:ext cx="9317736" cy="3584448"/>
          </a:xfrm>
          <a:prstGeom prst="rect">
            <a:avLst/>
          </a:prstGeom>
        </p:spPr>
      </p:pic>
      <p:pic>
        <p:nvPicPr>
          <p:cNvPr id="87" name="Picture 86" descr="fig_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5448" y="4050791"/>
            <a:ext cx="9601200" cy="408736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1585448" y="83210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70002"/>
                </a:solidFill>
              </a:rPr>
              <a:t>❶ Observe — Encode teammate actions via MLP</a:t>
            </a:r>
          </a:p>
          <a:p>
            <a:r>
              <a:rPr sz="1300" b="0">
                <a:solidFill>
                  <a:srgbClr val="404040"/>
                </a:solidFill>
              </a:rPr>
              <a:t>    One-hot action → 64-dim embedding per teammate</a:t>
            </a:r>
          </a:p>
          <a:p>
            <a:r>
              <a:rPr sz="1500" b="1">
                <a:solidFill>
                  <a:srgbClr val="870002"/>
                </a:solidFill>
              </a:rPr>
              <a:t>❷ Attend — Multi-head attention (h=4) over actions</a:t>
            </a:r>
          </a:p>
          <a:p>
            <a:r>
              <a:rPr sz="1300" b="0">
                <a:solidFill>
                  <a:srgbClr val="404040"/>
                </a:solidFill>
              </a:rPr>
              <a:t>    Query = belief state, Keys/Values = action embeddings</a:t>
            </a:r>
          </a:p>
          <a:p>
            <a:r>
              <a:rPr sz="1500" b="1">
                <a:solidFill>
                  <a:srgbClr val="870002"/>
                </a:solidFill>
              </a:rPr>
              <a:t>❸ Update — GRU: b_t = GRU([obs || context], b_{t−1})</a:t>
            </a:r>
          </a:p>
          <a:p>
            <a:r>
              <a:rPr sz="1500" b="1">
                <a:solidFill>
                  <a:srgbClr val="870002"/>
                </a:solidFill>
              </a:rPr>
              <a:t>❹ Predict — Auxiliary MLP predicts next actions</a:t>
            </a:r>
          </a:p>
          <a:p>
            <a:r>
              <a:rPr sz="1300" b="0">
                <a:solidFill>
                  <a:srgbClr val="404040"/>
                </a:solidFill>
              </a:rPr>
              <a:t>    Accuracy: 17% (chance) → 86%. Keeps beliefs calibrated.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2D2D2D"/>
                </a:solidFill>
              </a:rPr>
              <a:t>L_total = L_PPO + 0.05 × L_aux     |     &lt;10% overhead vs MAPPO</a:t>
            </a:r>
          </a:p>
        </p:txBody>
      </p:sp>
      <p:pic>
        <p:nvPicPr>
          <p:cNvPr id="89" name="Picture 88" descr="fig_hero_retai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43848" y="4050791"/>
            <a:ext cx="9802368" cy="576986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21643848" y="10058400"/>
            <a:ext cx="98023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</a:rPr>
              <a:t>VABL retains 62% of coordination vs. 0% for MAPPO and AERIAL — without any communication channel.</a:t>
            </a:r>
          </a:p>
        </p:txBody>
      </p:sp>
      <p:pic>
        <p:nvPicPr>
          <p:cNvPr id="91" name="Picture 90" descr="fig_variance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13048488"/>
            <a:ext cx="9409176" cy="573328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78992" y="18928080"/>
            <a:ext cx="94091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32"/>
                </a:solidFill>
              </a:rPr>
              <a:t>• VABL std: 1.7 vs MAPPO: 20.3 (12× more reliable)</a:t>
            </a:r>
          </a:p>
          <a:p>
            <a:r>
              <a:rPr sz="1400" b="0">
                <a:solidFill>
                  <a:srgbClr val="404040"/>
                </a:solidFill>
              </a:rPr>
              <a:t>• Overcooked AA: VABL 3.3× MAPPO final reward</a:t>
            </a:r>
          </a:p>
          <a:p>
            <a:r>
              <a:rPr sz="1400" b="0">
                <a:solidFill>
                  <a:srgbClr val="404040"/>
                </a:solidFill>
              </a:rPr>
              <a:t>• 5 seeds, 95% CIs, extended 10M-step runs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786616" y="13139928"/>
            <a:ext cx="940917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70002"/>
                </a:solidFill>
              </a:rPr>
              <a:t>Head-to-Head Comparison</a:t>
            </a:r>
          </a:p>
          <a:p>
            <a:pPr>
              <a:spcAft>
                <a:spcPts val="600"/>
              </a:spcAft>
            </a:pPr>
          </a:p>
          <a:p>
            <a:r>
              <a:rPr sz="1300" b="1">
                <a:solidFill>
                  <a:srgbClr val="2D2D2D"/>
                </a:solidFill>
              </a:rPr>
              <a:t>                     VABL    MAPPO   TarMAC  AERIAL</a:t>
            </a:r>
          </a:p>
          <a:p>
            <a:r>
              <a:rPr sz="1000" b="0">
                <a:solidFill>
                  <a:srgbClr val="808080"/>
                </a:solidFill>
              </a:rPr>
              <a:t>────────────────────────────────────────────────────────</a:t>
            </a:r>
          </a:p>
          <a:p>
            <a:r>
              <a:rPr sz="1400" b="0">
                <a:solidFill>
                  <a:srgbClr val="404040"/>
                </a:solidFill>
              </a:rPr>
              <a:t>Reward Retained    62%      0%      14%      0%</a:t>
            </a:r>
          </a:p>
          <a:p>
            <a:r>
              <a:rPr sz="1400" b="0">
                <a:solidFill>
                  <a:srgbClr val="404040"/>
                </a:solidFill>
              </a:rPr>
              <a:t>Collapse %          38%    100%      85%    100%</a:t>
            </a:r>
          </a:p>
          <a:p>
            <a:r>
              <a:rPr sz="1400" b="0">
                <a:solidFill>
                  <a:srgbClr val="404040"/>
                </a:solidFill>
              </a:rPr>
              <a:t>Reward Std Dev      1.7     20.3      --       --</a:t>
            </a:r>
          </a:p>
          <a:p>
            <a:r>
              <a:rPr sz="1400" b="0">
                <a:solidFill>
                  <a:srgbClr val="404040"/>
                </a:solidFill>
              </a:rPr>
              <a:t>Comm. Required?     No       No      Yes      No</a:t>
            </a:r>
          </a:p>
          <a:p>
            <a:r>
              <a:rPr sz="1000" b="0">
                <a:solidFill>
                  <a:srgbClr val="808080"/>
                </a:solidFill>
              </a:rPr>
              <a:t>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</a:pPr>
          </a:p>
          <a:p>
            <a:r>
              <a:rPr sz="1100" b="0">
                <a:solidFill>
                  <a:srgbClr val="808080"/>
                </a:solidFill>
              </a:rPr>
              <a:t>→ Replace this with a proper PowerPoint table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786616" y="17739360"/>
            <a:ext cx="940917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0002"/>
                </a:solidFill>
              </a:rPr>
              <a:t>Component Ablation (Cramped Room, 5 seeds)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2E7D32"/>
                </a:solidFill>
              </a:rPr>
              <a:t>• Full VABL:     1030 ± 70   (best, lowest variance)</a:t>
            </a:r>
          </a:p>
          <a:p>
            <a:r>
              <a:rPr sz="1400" b="0">
                <a:solidFill>
                  <a:srgbClr val="404040"/>
                </a:solidFill>
              </a:rPr>
              <a:t>• No Attention:  990 ± 65</a:t>
            </a:r>
          </a:p>
          <a:p>
            <a:r>
              <a:rPr sz="1400" b="0">
                <a:solidFill>
                  <a:srgbClr val="404040"/>
                </a:solidFill>
              </a:rPr>
              <a:t>• No Aux Loss:   951 ± 162  (2.3× higher variance)</a:t>
            </a:r>
          </a:p>
          <a:p>
            <a:r>
              <a:rPr sz="1400" b="0">
                <a:solidFill>
                  <a:srgbClr val="404040"/>
                </a:solidFill>
              </a:rPr>
              <a:t>• Neither:       906 ± 244  (3.5× higher variance)</a:t>
            </a:r>
          </a:p>
          <a:p>
            <a:pPr>
              <a:spcAft>
                <a:spcPts val="600"/>
              </a:spcAft>
            </a:pPr>
          </a:p>
          <a:p>
            <a:r>
              <a:rPr sz="1500" b="1">
                <a:solidFill>
                  <a:srgbClr val="2E7D32"/>
                </a:solidFill>
              </a:rPr>
              <a:t>Auxiliary prediction is the critical stabilizer.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302216" y="13139928"/>
            <a:ext cx="922629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870002"/>
                </a:solidFill>
              </a:rPr>
              <a:t>Key Insight</a:t>
            </a:r>
          </a:p>
          <a:p>
            <a:pPr>
              <a:spcAft>
                <a:spcPts val="600"/>
              </a:spcAft>
            </a:pPr>
          </a:p>
          <a:p>
            <a:r>
              <a:rPr sz="1600" b="0">
                <a:solidFill>
                  <a:srgbClr val="2D2D2D"/>
                </a:solidFill>
              </a:rPr>
              <a:t>Every method discovers coordination.</a:t>
            </a:r>
          </a:p>
          <a:p>
            <a:r>
              <a:rPr sz="1800" b="1">
                <a:solidFill>
                  <a:srgbClr val="870002"/>
                </a:solidFill>
              </a:rPr>
              <a:t>The challenge is keeping it.</a:t>
            </a:r>
          </a:p>
          <a:p>
            <a:r>
              <a:rPr sz="1500" b="0">
                <a:solidFill>
                  <a:srgbClr val="404040"/>
                </a:solidFill>
              </a:rPr>
              <a:t>VABL's prediction loss prevents belief drift,</a:t>
            </a:r>
          </a:p>
          <a:p>
            <a:r>
              <a:rPr sz="1500" b="0">
                <a:solidFill>
                  <a:srgbClr val="404040"/>
                </a:solidFill>
              </a:rPr>
              <a:t>sustaining coordination without communication.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302216" y="15270480"/>
            <a:ext cx="92262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0002"/>
                </a:solidFill>
              </a:rPr>
              <a:t>Data Science Contributions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2D2D2D"/>
                </a:solidFill>
              </a:rPr>
              <a:t>• Prediction from behavioral time-series:</a:t>
            </a:r>
          </a:p>
          <a:p>
            <a:r>
              <a:rPr sz="1400" b="0">
                <a:solidFill>
                  <a:srgbClr val="404040"/>
                </a:solidFill>
              </a:rPr>
              <a:t>  sequential teammate action data → real-time</a:t>
            </a:r>
          </a:p>
          <a:p>
            <a:r>
              <a:rPr sz="1400" b="0">
                <a:solidFill>
                  <a:srgbClr val="404040"/>
                </a:solidFill>
              </a:rPr>
              <a:t>  predictive model (86% accuracy)</a:t>
            </a:r>
          </a:p>
          <a:p>
            <a:r>
              <a:rPr sz="1400" b="1">
                <a:solidFill>
                  <a:srgbClr val="2D2D2D"/>
                </a:solidFill>
              </a:rPr>
              <a:t>• Self-supervised regularization prevents</a:t>
            </a:r>
          </a:p>
          <a:p>
            <a:r>
              <a:rPr sz="1400" b="0">
                <a:solidFill>
                  <a:srgbClr val="404040"/>
                </a:solidFill>
              </a:rPr>
              <a:t>  catastrophic forgetting (2.3× variance reduction)</a:t>
            </a:r>
          </a:p>
          <a:p>
            <a:r>
              <a:rPr sz="1400" b="0">
                <a:solidFill>
                  <a:srgbClr val="404040"/>
                </a:solidFill>
              </a:rPr>
              <a:t>• Rigorous evaluation: 5 seeds, 4 baselines,</a:t>
            </a:r>
          </a:p>
          <a:p>
            <a:r>
              <a:rPr sz="1400" b="0">
                <a:solidFill>
                  <a:srgbClr val="404040"/>
                </a:solidFill>
              </a:rPr>
              <a:t>  3 environments, 10M-step extended runs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302216" y="17922240"/>
            <a:ext cx="92262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0002"/>
                </a:solidFill>
              </a:rPr>
              <a:t>Real-World Applications</a:t>
            </a:r>
          </a:p>
          <a:p>
            <a:r>
              <a:rPr sz="1400" b="0">
                <a:solidFill>
                  <a:srgbClr val="404040"/>
                </a:solidFill>
              </a:rPr>
              <a:t>• Warehouse robot fleets (comm. blackouts)</a:t>
            </a:r>
          </a:p>
          <a:p>
            <a:r>
              <a:rPr sz="1400" b="0">
                <a:solidFill>
                  <a:srgbClr val="404040"/>
                </a:solidFill>
              </a:rPr>
              <a:t>• Autonomous vehicle coordination</a:t>
            </a:r>
          </a:p>
          <a:p>
            <a:r>
              <a:rPr sz="1400" b="0">
                <a:solidFill>
                  <a:srgbClr val="404040"/>
                </a:solidFill>
              </a:rPr>
              <a:t>• Disaster response drone swarms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302216" y="19385280"/>
            <a:ext cx="92262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70002"/>
                </a:solidFill>
              </a:rPr>
              <a:t>Future Work</a:t>
            </a:r>
          </a:p>
          <a:p>
            <a:r>
              <a:rPr sz="1300" b="0">
                <a:solidFill>
                  <a:srgbClr val="808080"/>
                </a:solidFill>
              </a:rPr>
              <a:t>• Hanabi evaluation  •  Scale to N&gt;10 agents  •  Hybrid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Props1.xml><?xml version="1.0" encoding="utf-8"?>
<ds:datastoreItem xmlns:ds="http://schemas.openxmlformats.org/officeDocument/2006/customXml" ds:itemID="{623F0816-2263-4C52-8658-14DE2C029003}"/>
</file>

<file path=customXml/itemProps2.xml><?xml version="1.0" encoding="utf-8"?>
<ds:datastoreItem xmlns:ds="http://schemas.openxmlformats.org/officeDocument/2006/customXml" ds:itemID="{449183F3-593C-4597-A875-D6D1E2043D1B}"/>
</file>

<file path=customXml/itemProps3.xml><?xml version="1.0" encoding="utf-8"?>
<ds:datastoreItem xmlns:ds="http://schemas.openxmlformats.org/officeDocument/2006/customXml" ds:itemID="{BA20DFF8-CB66-40FF-BF90-2A3AD0F5183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14414</TotalTime>
  <Words>230</Words>
  <Application>Microsoft Office PowerPoint</Application>
  <PresentationFormat>Custom</PresentationFormat>
  <Paragraphs>411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Danala, Gopichandh</cp:lastModifiedBy>
  <cp:revision>349</cp:revision>
  <dcterms:created xsi:type="dcterms:W3CDTF">2019-01-08T21:13:45Z</dcterms:created>
  <dcterms:modified xsi:type="dcterms:W3CDTF">2026-02-03T22:01:58Z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
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264" r:id="rId5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00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93"/>
    <p:restoredTop sz="94658"/>
  </p:normalViewPr>
  <p:slideViewPr>
    <p:cSldViewPr snapToGrid="0">
      <p:cViewPr varScale="1">
        <p:scale>
          <a:sx n="48" d="100"/>
          <a:sy n="48" d="100"/>
        </p:scale>
        <p:origin x="46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7350AF-D586-8C48-8B3D-AA4F73FEF83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636A7A-D321-6640-9EA0-1894E9CA8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15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1pPr>
    <a:lvl2pPr marL="326493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2pPr>
    <a:lvl3pPr marL="652986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3pPr>
    <a:lvl4pPr marL="979480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4pPr>
    <a:lvl5pPr marL="1305973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5pPr>
    <a:lvl6pPr marL="1632465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6pPr>
    <a:lvl7pPr marL="1958958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7pPr>
    <a:lvl8pPr marL="2285451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8pPr>
    <a:lvl9pPr marL="2611944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B56D6-9569-5C48-8219-0FA3B2765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3CF058-28C5-3380-80DC-4C307F5C7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CC00D-F941-E9E4-6FF3-7DF30F5A1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1AB13-D1C4-FB3D-C69C-76E36C792F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36A7A-D321-6640-9EA0-1894E9CA84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53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7BF52406-52E5-454C-9716-52920D4BD16F}" type="datetime1">
              <a:rPr lang="en-US" smtClean="0"/>
              <a:pPr lvl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A42F3CC-AEBB-944F-9D49-E8019AA9D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650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03110B6-4410-A64B-85A1-DAADD1A90EB3}" type="datetime1">
              <a:rPr lang="en-US" smtClean="0"/>
              <a:pPr lvl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883F00-EDD3-374A-A81F-581494726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675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8F2F153-3A0B-4340-BEAE-C0BD7802A699}" type="datetime1">
              <a:rPr lang="en-US" smtClean="0"/>
              <a:pPr lvl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1E7FAFE-0A4E-7D4A-98C9-846A0CADB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682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FEACC0A-02C8-7B42-9E09-37CF32431F1D}" type="datetime1">
              <a:rPr lang="en-US" smtClean="0"/>
              <a:pPr lvl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DC5A204-18E3-484C-9BBB-F99C0E388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7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8016240"/>
            <a:ext cx="13926024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5379722"/>
            <a:ext cx="1399460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8016240"/>
            <a:ext cx="13994608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C9E284F7-E633-674C-A371-8FFD7917B2E9}" type="datetime1">
              <a:rPr lang="en-US" smtClean="0"/>
              <a:pPr lvl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CBDB613-214B-E54A-BE14-BF02B586E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14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7E39F43D-F49E-8D46-8EAF-284030998475}" type="datetime1">
              <a:rPr lang="en-US" smtClean="0"/>
              <a:pPr lvl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989C09C-BFC4-9145-A3DD-88B4F3FC1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846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F16B761-BE78-6945-9B01-679129FA01FE}" type="datetime1">
              <a:rPr lang="en-US" smtClean="0"/>
              <a:pPr lvl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423FC65-CFA8-884F-B20E-55612D34A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8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159765"/>
            <a:ext cx="1666494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840A55A8-A6DF-BB4D-BA0E-8415A4C1C5D8}" type="datetime1">
              <a:rPr lang="en-US" smtClean="0"/>
              <a:pPr lvl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DB507DC-5D7D-9648-9681-43844D8FE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82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159765"/>
            <a:ext cx="1666494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F8C68A7-97CF-C346-80A8-EAFC76805E38}" type="datetime1">
              <a:rPr lang="en-US" smtClean="0"/>
              <a:pPr lvl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BB0A42F-D3B8-B94E-B495-7878203CB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04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D707B06-774F-EC42-9780-80010CCA5BC3}" type="datetime1">
              <a:rPr lang="en-US" smtClean="0"/>
              <a:pPr lvl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ABB2D84-A3D0-1449-B431-D4B1D10B7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33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168400"/>
            <a:ext cx="709803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168400"/>
            <a:ext cx="20882610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4DCE887-F616-284F-947F-F7A155E2E11F}" type="datetime1">
              <a:rPr lang="en-US" smtClean="0"/>
              <a:pPr lvl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76FB661-9772-7047-AE06-904BFDC13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794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fld id="{FFE8C666-BE86-664D-80F7-53B268192899}" type="datetime1">
              <a:rPr lang="en-US" smtClean="0"/>
              <a:pPr lvl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fld id="{CB3A5EC8-CE6E-B94F-981A-886CD0377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25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C49FD-FEBD-F933-9E97-54AD794F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D76D8275-7141-6AE1-CC4A-EE2AD5D6DF00}"/>
              </a:ext>
            </a:extLst>
          </p:cNvPr>
          <p:cNvSpPr txBox="1"/>
          <p:nvPr/>
        </p:nvSpPr>
        <p:spPr>
          <a:xfrm>
            <a:off x="2294559" y="21204581"/>
            <a:ext cx="28795041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0960" tIns="30480" rIns="60960" bIns="30480" anchor="t" anchorCtr="0" compatLnSpc="1">
            <a:spAutoFit/>
          </a:bodyPr>
          <a:lstStyle/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1100">
                <a:solidFill>
                  <a:srgbClr val="666666"/>
                </a:solidFill>
              </a:rPr>
              <a:t>vishnupk@ou.edu  │  github.com/vishnukadiyala/vabl-multi-agent-coordination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C2A3D8C-E46C-B98A-AC27-F526FFD6600A}"/>
              </a:ext>
            </a:extLst>
          </p:cNvPr>
          <p:cNvCxnSpPr>
            <a:cxnSpLocks/>
          </p:cNvCxnSpPr>
          <p:nvPr/>
        </p:nvCxnSpPr>
        <p:spPr>
          <a:xfrm>
            <a:off x="640080" y="21117496"/>
            <a:ext cx="31851600" cy="0"/>
          </a:xfrm>
          <a:prstGeom prst="line">
            <a:avLst/>
          </a:prstGeom>
          <a:ln w="57150">
            <a:solidFill>
              <a:srgbClr val="8700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43423C5-A5AD-021A-8EE6-E086221214D4}"/>
              </a:ext>
            </a:extLst>
          </p:cNvPr>
          <p:cNvSpPr/>
          <p:nvPr/>
        </p:nvSpPr>
        <p:spPr>
          <a:xfrm>
            <a:off x="0" y="0"/>
            <a:ext cx="32918400" cy="2607480"/>
          </a:xfrm>
          <a:prstGeom prst="rect">
            <a:avLst/>
          </a:prstGeom>
          <a:solidFill>
            <a:srgbClr val="8700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 dirty="0"/>
          </a:p>
        </p:txBody>
      </p:sp>
      <p:sp>
        <p:nvSpPr>
          <p:cNvPr id="15" name="Rectangle 57">
            <a:extLst>
              <a:ext uri="{FF2B5EF4-FFF2-40B4-BE49-F238E27FC236}">
                <a16:creationId xmlns:a16="http://schemas.microsoft.com/office/drawing/2014/main" id="{217BD0E7-27BF-D36A-2F75-5DFB9D4A7307}"/>
              </a:ext>
            </a:extLst>
          </p:cNvPr>
          <p:cNvSpPr/>
          <p:nvPr/>
        </p:nvSpPr>
        <p:spPr>
          <a:xfrm>
            <a:off x="9348174" y="380411"/>
            <a:ext cx="14222052" cy="184665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60960" tIns="30480" rIns="60960" bIns="30480" anchor="t" anchorCtr="1" compatLnSpc="1">
            <a:spAutoFit/>
          </a:bodyPr>
          <a:lstStyle/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3200" b="1">
                <a:solidFill>
                  <a:srgbClr val="FFFFFF"/>
                </a:solidFill>
              </a:rPr>
              <a:t>Learning to Coordinate Without Talking</a:t>
            </a:r>
          </a:p>
          <a:p>
            <a:pPr algn="ctr"/>
            <a:r>
              <a:rPr sz="2000">
                <a:solidFill>
                  <a:srgbClr val="CCEECC"/>
                </a:solidFill>
              </a:rPr>
              <a:t>Data-Driven Belief Models for Robust Multi-Agent Coordination</a:t>
            </a:r>
          </a:p>
          <a:p>
            <a:pPr algn="ctr"/>
            <a:r>
              <a:rPr sz="1400">
                <a:solidFill>
                  <a:srgbClr val="DDDDDD"/>
                </a:solidFill>
              </a:rPr>
              <a:t>Vishnu Kadiyala, Mohammed Atiquzzaman — School of Computer Science, University of Oklahoma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7FAE46C-63EF-2B6D-D4BD-038FB3E6D296}"/>
              </a:ext>
            </a:extLst>
          </p:cNvPr>
          <p:cNvGrpSpPr/>
          <p:nvPr/>
        </p:nvGrpSpPr>
        <p:grpSpPr>
          <a:xfrm>
            <a:off x="29161366" y="573478"/>
            <a:ext cx="3064963" cy="2018173"/>
            <a:chOff x="38586497" y="846117"/>
            <a:chExt cx="4597445" cy="3027260"/>
          </a:xfrm>
        </p:grpSpPr>
        <p:sp>
          <p:nvSpPr>
            <p:cNvPr id="24" name="Rectangle 57">
              <a:extLst>
                <a:ext uri="{FF2B5EF4-FFF2-40B4-BE49-F238E27FC236}">
                  <a16:creationId xmlns:a16="http://schemas.microsoft.com/office/drawing/2014/main" id="{6CC55CE7-BAC4-07C3-CDB4-61B222BC817A}"/>
                </a:ext>
              </a:extLst>
            </p:cNvPr>
            <p:cNvSpPr/>
            <p:nvPr/>
          </p:nvSpPr>
          <p:spPr>
            <a:xfrm>
              <a:off x="38586497" y="2950047"/>
              <a:ext cx="4597445" cy="92333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60960" tIns="30480" rIns="60960" bIns="30480" anchor="t" anchorCtr="1" compatLnSpc="1">
              <a:sp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36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Poster ID: ###</a:t>
              </a:r>
            </a:p>
          </p:txBody>
        </p:sp>
        <p:sp>
          <p:nvSpPr>
            <p:cNvPr id="26" name="Rectangle 57">
              <a:extLst>
                <a:ext uri="{FF2B5EF4-FFF2-40B4-BE49-F238E27FC236}">
                  <a16:creationId xmlns:a16="http://schemas.microsoft.com/office/drawing/2014/main" id="{0EF44E84-D26C-734E-6812-E51814766526}"/>
                </a:ext>
              </a:extLst>
            </p:cNvPr>
            <p:cNvSpPr/>
            <p:nvPr/>
          </p:nvSpPr>
          <p:spPr>
            <a:xfrm>
              <a:off x="39486250" y="846117"/>
              <a:ext cx="2797941" cy="1908215"/>
            </a:xfrm>
            <a:prstGeom prst="rect">
              <a:avLst/>
            </a:prstGeom>
            <a:noFill/>
            <a:ln cap="flat">
              <a:solidFill>
                <a:schemeClr val="bg1"/>
              </a:solidFill>
              <a:prstDash val="solid"/>
            </a:ln>
          </p:spPr>
          <p:txBody>
            <a:bodyPr vert="horz" wrap="square" lIns="60960" tIns="30480" rIns="60960" bIns="30480" anchor="t" anchorCtr="1" compatLnSpc="1">
              <a:spAutoFit/>
            </a:bodyPr>
            <a:lstStyle/>
            <a:p>
              <a:pPr algn="ctr" defTabSz="304815">
                <a:spcAft>
                  <a:spcPts val="8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QR CODE</a:t>
              </a:r>
            </a:p>
            <a:p>
              <a:pPr algn="ctr" defTabSz="304815">
                <a:spcAft>
                  <a:spcPts val="8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To Online submission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CAD709E-47B3-E4B7-B0E8-C23313C6D490}"/>
              </a:ext>
            </a:extLst>
          </p:cNvPr>
          <p:cNvGrpSpPr/>
          <p:nvPr/>
        </p:nvGrpSpPr>
        <p:grpSpPr>
          <a:xfrm>
            <a:off x="650909" y="2987891"/>
            <a:ext cx="10413331" cy="8734624"/>
            <a:chOff x="650909" y="2987891"/>
            <a:chExt cx="10413331" cy="8734624"/>
          </a:xfrm>
        </p:grpSpPr>
        <p:sp>
          <p:nvSpPr>
            <p:cNvPr id="2" name="TextBox 14">
              <a:extLst>
                <a:ext uri="{FF2B5EF4-FFF2-40B4-BE49-F238E27FC236}">
                  <a16:creationId xmlns:a16="http://schemas.microsoft.com/office/drawing/2014/main" id="{F2BF50F8-3008-5EF5-565A-A037660F9EF4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" name="Rounded Rectangle 15">
              <a:extLst>
                <a:ext uri="{FF2B5EF4-FFF2-40B4-BE49-F238E27FC236}">
                  <a16:creationId xmlns:a16="http://schemas.microsoft.com/office/drawing/2014/main" id="{038AA21D-4FFD-1F57-377A-0654E4CFE044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sz="2000" b="1">
                  <a:solidFill>
                    <a:srgbClr val="FFFFFF"/>
                  </a:solidFill>
                </a:rPr>
                <a:t>THE PROBLEM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4FCEED2-3276-DB35-A36B-3C9BC67AA442}"/>
              </a:ext>
            </a:extLst>
          </p:cNvPr>
          <p:cNvGrpSpPr/>
          <p:nvPr/>
        </p:nvGrpSpPr>
        <p:grpSpPr>
          <a:xfrm>
            <a:off x="11262434" y="2987891"/>
            <a:ext cx="20963895" cy="8734624"/>
            <a:chOff x="650909" y="2987891"/>
            <a:chExt cx="10413331" cy="8734624"/>
          </a:xfrm>
        </p:grpSpPr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AAD973E7-88F0-C479-4D53-C9FEBF41C496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28" name="Rounded Rectangle 15">
              <a:extLst>
                <a:ext uri="{FF2B5EF4-FFF2-40B4-BE49-F238E27FC236}">
                  <a16:creationId xmlns:a16="http://schemas.microsoft.com/office/drawing/2014/main" id="{B16AD649-830E-04FA-C941-2B9E128B1A5B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sz="2000" b="1">
                  <a:solidFill>
                    <a:srgbClr val="FFFFFF"/>
                  </a:solidFill>
                </a:rPr>
                <a:t>VABL: HOW IT WORKS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AF1F8B4-1598-8635-601D-A62CE912FD76}"/>
              </a:ext>
            </a:extLst>
          </p:cNvPr>
          <p:cNvGrpSpPr/>
          <p:nvPr/>
        </p:nvGrpSpPr>
        <p:grpSpPr>
          <a:xfrm>
            <a:off x="670707" y="11986632"/>
            <a:ext cx="10413331" cy="8734624"/>
            <a:chOff x="650909" y="2987891"/>
            <a:chExt cx="10413331" cy="8734624"/>
          </a:xfrm>
        </p:grpSpPr>
        <p:sp>
          <p:nvSpPr>
            <p:cNvPr id="33" name="TextBox 14">
              <a:extLst>
                <a:ext uri="{FF2B5EF4-FFF2-40B4-BE49-F238E27FC236}">
                  <a16:creationId xmlns:a16="http://schemas.microsoft.com/office/drawing/2014/main" id="{C9D28CD7-2E60-98DC-0396-DCD2824E64A9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5" name="Rounded Rectangle 15">
              <a:extLst>
                <a:ext uri="{FF2B5EF4-FFF2-40B4-BE49-F238E27FC236}">
                  <a16:creationId xmlns:a16="http://schemas.microsoft.com/office/drawing/2014/main" id="{93413C1D-48A0-8096-870D-102DBF6617C0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sz="2000" b="1">
                  <a:solidFill>
                    <a:srgbClr val="FFFFFF"/>
                  </a:solidFill>
                </a:rPr>
                <a:t>EVIDENCE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53842B7-68E1-E7B1-B1B9-B4AD4E884D4F}"/>
              </a:ext>
            </a:extLst>
          </p:cNvPr>
          <p:cNvGrpSpPr/>
          <p:nvPr/>
        </p:nvGrpSpPr>
        <p:grpSpPr>
          <a:xfrm>
            <a:off x="11282232" y="11986632"/>
            <a:ext cx="10413331" cy="8734624"/>
            <a:chOff x="650909" y="2987891"/>
            <a:chExt cx="10413331" cy="8734624"/>
          </a:xfrm>
        </p:grpSpPr>
        <p:sp>
          <p:nvSpPr>
            <p:cNvPr id="38" name="TextBox 14">
              <a:extLst>
                <a:ext uri="{FF2B5EF4-FFF2-40B4-BE49-F238E27FC236}">
                  <a16:creationId xmlns:a16="http://schemas.microsoft.com/office/drawing/2014/main" id="{7772EC3D-1388-91F3-B79A-4860F1BE677F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9" name="Rounded Rectangle 15">
              <a:extLst>
                <a:ext uri="{FF2B5EF4-FFF2-40B4-BE49-F238E27FC236}">
                  <a16:creationId xmlns:a16="http://schemas.microsoft.com/office/drawing/2014/main" id="{A4F942D2-2122-B617-CAB7-77376E729975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sz="2000" b="1">
                  <a:solidFill>
                    <a:srgbClr val="FFFFFF"/>
                  </a:solidFill>
                </a:rPr>
                <a:t>RESULTS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A4706FF-BC15-16D2-6430-AACCA5A148C6}"/>
              </a:ext>
            </a:extLst>
          </p:cNvPr>
          <p:cNvGrpSpPr/>
          <p:nvPr/>
        </p:nvGrpSpPr>
        <p:grpSpPr>
          <a:xfrm>
            <a:off x="21893758" y="11986632"/>
            <a:ext cx="10413331" cy="8734624"/>
            <a:chOff x="650909" y="2987891"/>
            <a:chExt cx="10413331" cy="8734624"/>
          </a:xfrm>
        </p:grpSpPr>
        <p:sp>
          <p:nvSpPr>
            <p:cNvPr id="41" name="TextBox 14">
              <a:extLst>
                <a:ext uri="{FF2B5EF4-FFF2-40B4-BE49-F238E27FC236}">
                  <a16:creationId xmlns:a16="http://schemas.microsoft.com/office/drawing/2014/main" id="{856F57B8-3AE3-B432-5B16-CA851E2C0FA9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42" name="Rounded Rectangle 15">
              <a:extLst>
                <a:ext uri="{FF2B5EF4-FFF2-40B4-BE49-F238E27FC236}">
                  <a16:creationId xmlns:a16="http://schemas.microsoft.com/office/drawing/2014/main" id="{C65B57A5-586C-ED2F-EA67-C2F03B4A28F7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sz="2000" b="1">
                  <a:solidFill>
                    <a:srgbClr val="FFFFFF"/>
                  </a:solidFill>
                </a:rPr>
                <a:t>CONCLUSIONS &amp; IMPACT</a:t>
              </a: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923544" y="4050791"/>
            <a:ext cx="9866376" cy="739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A1A1A"/>
                </a:solidFill>
              </a:rPr>
              <a:t>Can AI agents coordinate</a:t>
            </a:r>
          </a:p>
          <a:p>
            <a:r>
              <a:rPr sz="2000" b="1">
                <a:solidFill>
                  <a:srgbClr val="1A1A1A"/>
                </a:solidFill>
              </a:rPr>
              <a:t>without communication?</a:t>
            </a:r>
          </a:p>
          <a:p>
            <a:pPr>
              <a:spcAft>
                <a:spcPts val="600"/>
              </a:spcAft>
            </a:pPr>
            <a:endParaRPr sz="2000" b="1">
              <a:solidFill>
                <a:srgbClr val="1A1A1A"/>
              </a:solidFill>
            </a:endParaRPr>
          </a:p>
          <a:p>
            <a:r>
              <a:rPr sz="1500" b="0">
                <a:solidFill>
                  <a:srgbClr val="333333"/>
                </a:solidFill>
              </a:rPr>
              <a:t>A quarterback reads the safety, sees his receiver</a:t>
            </a:r>
          </a:p>
          <a:p>
            <a:r>
              <a:rPr sz="1500" b="0">
                <a:solidFill>
                  <a:srgbClr val="333333"/>
                </a:solidFill>
              </a:rPr>
              <a:t>break, and throws — no audible needed. He</a:t>
            </a:r>
          </a:p>
          <a:p>
            <a:r>
              <a:rPr sz="1500" b="0">
                <a:solidFill>
                  <a:srgbClr val="333333"/>
                </a:solidFill>
              </a:rPr>
              <a:t>coordinates by predicting, not communicating.</a:t>
            </a:r>
          </a:p>
          <a:p>
            <a:pPr>
              <a:spcAft>
                <a:spcPts val="600"/>
              </a:spcAft>
            </a:pPr>
            <a:endParaRPr sz="1500" b="0">
              <a:solidFill>
                <a:srgbClr val="333333"/>
              </a:solidFill>
            </a:endParaRPr>
          </a:p>
          <a:p>
            <a:r>
              <a:rPr sz="1400" b="0">
                <a:solidFill>
                  <a:srgbClr val="666666"/>
                </a:solidFill>
              </a:rPr>
              <a:t>Setting: Decentralized POMDPs — agents act</a:t>
            </a:r>
          </a:p>
          <a:p>
            <a:r>
              <a:rPr sz="1400" b="0">
                <a:solidFill>
                  <a:srgbClr val="666666"/>
                </a:solidFill>
              </a:rPr>
              <a:t>on partial observations, no shared channel.</a:t>
            </a:r>
          </a:p>
          <a:p>
            <a:pPr>
              <a:spcAft>
                <a:spcPts val="600"/>
              </a:spcAft>
            </a:pPr>
            <a:endParaRPr sz="1400" b="0">
              <a:solidFill>
                <a:srgbClr val="666666"/>
              </a:solidFill>
            </a:endParaRPr>
          </a:p>
          <a:p>
            <a:r>
              <a:rPr sz="1700" b="1">
                <a:solidFill>
                  <a:srgbClr val="870002"/>
                </a:solidFill>
              </a:rPr>
              <a:t>The Problem: Coordination Collapse</a:t>
            </a:r>
          </a:p>
          <a:p>
            <a:pPr>
              <a:spcAft>
                <a:spcPts val="600"/>
              </a:spcAft>
            </a:pPr>
            <a:endParaRPr sz="1700" b="1">
              <a:solidFill>
                <a:srgbClr val="870002"/>
              </a:solidFill>
            </a:endParaRPr>
          </a:p>
          <a:p>
            <a:r>
              <a:rPr sz="1400" b="0">
                <a:solidFill>
                  <a:srgbClr val="333333"/>
                </a:solidFill>
              </a:rPr>
              <a:t>Agents learn teamwork then catastrophically</a:t>
            </a:r>
          </a:p>
          <a:p>
            <a:r>
              <a:rPr sz="1400" b="0">
                <a:solidFill>
                  <a:srgbClr val="333333"/>
                </a:solidFill>
              </a:rPr>
              <a:t>forget it — like a team that falls apart</a:t>
            </a:r>
          </a:p>
          <a:p>
            <a:r>
              <a:rPr sz="1400" b="0">
                <a:solidFill>
                  <a:srgbClr val="333333"/>
                </a:solidFill>
              </a:rPr>
              <a:t>in the 4th quarter of the big game.</a:t>
            </a:r>
          </a:p>
        </p:txBody>
      </p:sp>
      <p:pic>
        <p:nvPicPr>
          <p:cNvPr id="84" name="Picture 83" descr="fig_collapse_all_metho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9354312"/>
            <a:ext cx="5436925" cy="2093976"/>
          </a:xfrm>
          <a:prstGeom prst="rect">
            <a:avLst/>
          </a:prstGeom>
        </p:spPr>
      </p:pic>
      <p:pic>
        <p:nvPicPr>
          <p:cNvPr id="85" name="Picture 84" descr="fig_architecture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9728" y="4050791"/>
            <a:ext cx="7507111" cy="320040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1539728" y="7434071"/>
            <a:ext cx="100263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1A1A"/>
                </a:solidFill>
              </a:rPr>
              <a:t>Three steps, no communication needed:</a:t>
            </a:r>
          </a:p>
          <a:p>
            <a:pPr>
              <a:spcAft>
                <a:spcPts val="600"/>
              </a:spcAft>
            </a:pPr>
            <a:endParaRPr sz="1600" b="1">
              <a:solidFill>
                <a:srgbClr val="1A1A1A"/>
              </a:solidFill>
            </a:endParaRPr>
          </a:p>
          <a:p>
            <a:r>
              <a:rPr sz="1400" b="0">
                <a:solidFill>
                  <a:srgbClr val="333333"/>
                </a:solidFill>
              </a:rPr>
              <a:t>❶ Observe teammate actions (behavioral data)</a:t>
            </a:r>
          </a:p>
          <a:p>
            <a:r>
              <a:rPr sz="1400" b="0">
                <a:solidFill>
                  <a:srgbClr val="333333"/>
                </a:solidFill>
              </a:rPr>
              <a:t>❷ Attend — Multi-head attention (h=4) weighs</a:t>
            </a:r>
          </a:p>
          <a:p>
            <a:r>
              <a:rPr sz="1300" b="0">
                <a:solidFill>
                  <a:srgbClr val="666666"/>
                </a:solidFill>
              </a:rPr>
              <a:t>   which teammates matter. Query = belief state,</a:t>
            </a:r>
          </a:p>
          <a:p>
            <a:r>
              <a:rPr sz="1300" b="0">
                <a:solidFill>
                  <a:srgbClr val="666666"/>
                </a:solidFill>
              </a:rPr>
              <a:t>   Keys/Values = encoded actions.</a:t>
            </a:r>
          </a:p>
          <a:p>
            <a:r>
              <a:rPr sz="1400" b="0">
                <a:solidFill>
                  <a:srgbClr val="333333"/>
                </a:solidFill>
              </a:rPr>
              <a:t>❸ Update belief via GRU recurrence</a:t>
            </a:r>
          </a:p>
          <a:p>
            <a:r>
              <a:rPr sz="1400" b="0">
                <a:solidFill>
                  <a:srgbClr val="333333"/>
                </a:solidFill>
              </a:rPr>
              <a:t>❹ Predict teammates’ next actions (Theory of</a:t>
            </a:r>
          </a:p>
          <a:p>
            <a:r>
              <a:rPr sz="1300" b="0">
                <a:solidFill>
                  <a:srgbClr val="666666"/>
                </a:solidFill>
              </a:rPr>
              <a:t>   Mind) — keeps beliefs calibrated against drift.</a:t>
            </a:r>
          </a:p>
          <a:p>
            <a:pPr>
              <a:spcAft>
                <a:spcPts val="600"/>
              </a:spcAft>
            </a:pPr>
            <a:endParaRPr sz="1300" b="0">
              <a:solidFill>
                <a:srgbClr val="666666"/>
              </a:solidFill>
            </a:endParaRPr>
          </a:p>
          <a:p>
            <a:r>
              <a:rPr sz="1400" b="1">
                <a:solidFill>
                  <a:srgbClr val="1A1A1A"/>
                </a:solidFill>
              </a:rPr>
              <a:t>L = L_PPO + 0.05 × L_prediction</a:t>
            </a:r>
          </a:p>
          <a:p>
            <a:r>
              <a:rPr sz="1400" b="1">
                <a:solidFill>
                  <a:srgbClr val="2E7D32"/>
                </a:solidFill>
              </a:rPr>
              <a:t>Aux accuracy: 17% (chance) → 86%</a:t>
            </a:r>
          </a:p>
        </p:txBody>
      </p:sp>
      <p:pic>
        <p:nvPicPr>
          <p:cNvPr id="87" name="Picture 86" descr="fig_hero_retain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31884" y="4050791"/>
            <a:ext cx="9333922" cy="5486400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22280693" y="9594877"/>
            <a:ext cx="100263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2E7D32"/>
                </a:solidFill>
              </a:rPr>
              <a:t>VABL retains 62% of learned coordination</a:t>
            </a:r>
            <a:r>
              <a:rPr lang="en-US" sz="1600" b="1" dirty="0">
                <a:solidFill>
                  <a:srgbClr val="2E7D32"/>
                </a:solidFill>
              </a:rPr>
              <a:t> </a:t>
            </a:r>
            <a:r>
              <a:rPr sz="1600" b="1" dirty="0">
                <a:solidFill>
                  <a:srgbClr val="2E7D32"/>
                </a:solidFill>
              </a:rPr>
              <a:t>vs 0% for MAPPO/AERIAL — no communication.</a:t>
            </a:r>
          </a:p>
        </p:txBody>
      </p:sp>
      <p:pic>
        <p:nvPicPr>
          <p:cNvPr id="89" name="Picture 88" descr="fig_variance_v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13048488"/>
            <a:ext cx="8235092" cy="502920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941832" y="18260568"/>
            <a:ext cx="986637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E7D32"/>
                </a:solidFill>
              </a:rPr>
              <a:t>12× more reliable training</a:t>
            </a:r>
          </a:p>
          <a:p>
            <a:pPr>
              <a:spcAft>
                <a:spcPts val="600"/>
              </a:spcAft>
            </a:pPr>
            <a:endParaRPr sz="1600" b="1">
              <a:solidFill>
                <a:srgbClr val="2E7D32"/>
              </a:solidFill>
            </a:endParaRPr>
          </a:p>
          <a:p>
            <a:r>
              <a:rPr sz="1400" b="0">
                <a:solidFill>
                  <a:srgbClr val="333333"/>
                </a:solidFill>
              </a:rPr>
              <a:t>VABL std dev 1.7 vs MAPPO 20.3 across</a:t>
            </a:r>
          </a:p>
          <a:p>
            <a:r>
              <a:rPr sz="1400" b="0">
                <a:solidFill>
                  <a:srgbClr val="333333"/>
                </a:solidFill>
              </a:rPr>
              <a:t>5 random seeds on Simple Coordination.</a:t>
            </a:r>
          </a:p>
          <a:p>
            <a:r>
              <a:rPr sz="1300" b="0">
                <a:solidFill>
                  <a:srgbClr val="666666"/>
                </a:solidFill>
              </a:rPr>
              <a:t>QMIX has low variance but fails to learn.</a:t>
            </a:r>
          </a:p>
        </p:txBody>
      </p:sp>
      <p:pic>
        <p:nvPicPr>
          <p:cNvPr id="91" name="Picture 90" descr="fig_ablation_cramp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58016" y="13048488"/>
            <a:ext cx="7787738" cy="457200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11558016" y="17803368"/>
            <a:ext cx="986637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1A1A"/>
                </a:solidFill>
              </a:rPr>
              <a:t>Key Results (5 seeds, 95% CIs)</a:t>
            </a:r>
          </a:p>
          <a:p>
            <a:pPr>
              <a:spcAft>
                <a:spcPts val="600"/>
              </a:spcAft>
            </a:pPr>
            <a:endParaRPr sz="1600" b="1">
              <a:solidFill>
                <a:srgbClr val="1A1A1A"/>
              </a:solidFill>
            </a:endParaRPr>
          </a:p>
          <a:p>
            <a:r>
              <a:rPr sz="1300" b="0">
                <a:solidFill>
                  <a:srgbClr val="333333"/>
                </a:solidFill>
              </a:rPr>
              <a:t>• Overcooked: 3.3× higher reward than MAPPO</a:t>
            </a:r>
          </a:p>
          <a:p>
            <a:r>
              <a:rPr sz="1300" b="0">
                <a:solidFill>
                  <a:srgbClr val="333333"/>
                </a:solidFill>
              </a:rPr>
              <a:t>• 38% collapse vs 100% (MAPPO, AERIAL)</a:t>
            </a:r>
          </a:p>
          <a:p>
            <a:r>
              <a:rPr sz="1300" b="0">
                <a:solidFill>
                  <a:srgbClr val="333333"/>
                </a:solidFill>
              </a:rPr>
              <a:t>• TarMAC (comm.): Final 56.6 but 88% collapse</a:t>
            </a:r>
          </a:p>
          <a:p>
            <a:r>
              <a:rPr sz="1300" b="0">
                <a:solidFill>
                  <a:srgbClr val="333333"/>
                </a:solidFill>
              </a:rPr>
              <a:t>• 5-agent: VABL 95.7±3.3 vs MAPPO 84.0±10.4</a:t>
            </a:r>
          </a:p>
          <a:p>
            <a:r>
              <a:rPr sz="1300" b="0">
                <a:solidFill>
                  <a:srgbClr val="333333"/>
                </a:solidFill>
              </a:rPr>
              <a:t>• 10M steps: MAPPO collapses to zero reward</a:t>
            </a:r>
          </a:p>
          <a:p>
            <a:pPr>
              <a:spcAft>
                <a:spcPts val="600"/>
              </a:spcAft>
            </a:pPr>
            <a:endParaRPr sz="1300" b="0">
              <a:solidFill>
                <a:srgbClr val="333333"/>
              </a:solidFill>
            </a:endParaRPr>
          </a:p>
          <a:p>
            <a:r>
              <a:rPr sz="1300" b="1">
                <a:solidFill>
                  <a:srgbClr val="2E7D32"/>
                </a:solidFill>
              </a:rPr>
              <a:t>Cramped Room ablation confirms: Full VABL =</a:t>
            </a:r>
          </a:p>
          <a:p>
            <a:r>
              <a:rPr sz="1300" b="1">
                <a:solidFill>
                  <a:srgbClr val="2E7D32"/>
                </a:solidFill>
              </a:rPr>
              <a:t>highest peak (1030±70), lowest variance.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2165056" y="13048488"/>
            <a:ext cx="9866376" cy="739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</a:rPr>
              <a:t>Key Insight</a:t>
            </a:r>
          </a:p>
          <a:p>
            <a:pPr>
              <a:spcAft>
                <a:spcPts val="600"/>
              </a:spcAft>
            </a:pPr>
            <a:endParaRPr sz="1800" b="1">
              <a:solidFill>
                <a:srgbClr val="2E7D32"/>
              </a:solidFill>
            </a:endParaRPr>
          </a:p>
          <a:p>
            <a:r>
              <a:rPr sz="1500" b="0">
                <a:solidFill>
                  <a:srgbClr val="1A1A1A"/>
                </a:solidFill>
              </a:rPr>
              <a:t>Every method discovers coordination.</a:t>
            </a:r>
          </a:p>
          <a:p>
            <a:r>
              <a:rPr sz="1500" b="1">
                <a:solidFill>
                  <a:srgbClr val="1A1A1A"/>
                </a:solidFill>
              </a:rPr>
              <a:t>The challenge is keeping it.</a:t>
            </a:r>
          </a:p>
          <a:p>
            <a:pPr>
              <a:spcAft>
                <a:spcPts val="600"/>
              </a:spcAft>
            </a:pPr>
            <a:endParaRPr sz="1500" b="1">
              <a:solidFill>
                <a:srgbClr val="1A1A1A"/>
              </a:solidFill>
            </a:endParaRPr>
          </a:p>
          <a:p>
            <a:r>
              <a:rPr sz="1400" b="0">
                <a:solidFill>
                  <a:srgbClr val="333333"/>
                </a:solidFill>
              </a:rPr>
              <a:t>VABL’s auxiliary prediction loss prevents</a:t>
            </a:r>
          </a:p>
          <a:p>
            <a:r>
              <a:rPr sz="1400" b="0">
                <a:solidFill>
                  <a:srgbClr val="333333"/>
                </a:solidFill>
              </a:rPr>
              <a:t>belief drift, sustaining coordination</a:t>
            </a:r>
          </a:p>
          <a:p>
            <a:r>
              <a:rPr sz="1400" b="0">
                <a:solidFill>
                  <a:srgbClr val="333333"/>
                </a:solidFill>
              </a:rPr>
              <a:t>without any communication channel.</a:t>
            </a:r>
          </a:p>
          <a:p>
            <a:pPr>
              <a:spcAft>
                <a:spcPts val="600"/>
              </a:spcAft>
            </a:pPr>
            <a:endParaRPr sz="1400" b="0">
              <a:solidFill>
                <a:srgbClr val="333333"/>
              </a:solidFill>
            </a:endParaRPr>
          </a:p>
          <a:p>
            <a:r>
              <a:rPr sz="1600" b="1">
                <a:solidFill>
                  <a:srgbClr val="870002"/>
                </a:solidFill>
              </a:rPr>
              <a:t>Data Science Contributions</a:t>
            </a:r>
          </a:p>
          <a:p>
            <a:pPr>
              <a:spcAft>
                <a:spcPts val="600"/>
              </a:spcAft>
            </a:pPr>
            <a:endParaRPr sz="1600" b="1">
              <a:solidFill>
                <a:srgbClr val="870002"/>
              </a:solidFill>
            </a:endParaRPr>
          </a:p>
          <a:p>
            <a:r>
              <a:rPr sz="1300" b="0">
                <a:solidFill>
                  <a:srgbClr val="333333"/>
                </a:solidFill>
              </a:rPr>
              <a:t>• Behavioral prediction from sequential</a:t>
            </a:r>
          </a:p>
          <a:p>
            <a:r>
              <a:rPr sz="1300" b="0">
                <a:solidFill>
                  <a:srgbClr val="666666"/>
                </a:solidFill>
              </a:rPr>
              <a:t>  observational data (86% accuracy)</a:t>
            </a:r>
          </a:p>
          <a:p>
            <a:r>
              <a:rPr sz="1300" b="0">
                <a:solidFill>
                  <a:srgbClr val="333333"/>
                </a:solidFill>
              </a:rPr>
              <a:t>• Self-supervised regularization prevents</a:t>
            </a:r>
          </a:p>
          <a:p>
            <a:r>
              <a:rPr sz="1300" b="0">
                <a:solidFill>
                  <a:srgbClr val="666666"/>
                </a:solidFill>
              </a:rPr>
              <a:t>  catastrophic forgetting (2.3× variance ↓)</a:t>
            </a:r>
          </a:p>
          <a:p>
            <a:r>
              <a:rPr sz="1300" b="0">
                <a:solidFill>
                  <a:srgbClr val="333333"/>
                </a:solidFill>
              </a:rPr>
              <a:t>• Rigorous evaluation: 5 seeds, 4 baselines,</a:t>
            </a:r>
          </a:p>
          <a:p>
            <a:r>
              <a:rPr sz="1300" b="0">
                <a:solidFill>
                  <a:srgbClr val="666666"/>
                </a:solidFill>
              </a:rPr>
              <a:t>  3 environments, 10M-step extended runs</a:t>
            </a:r>
          </a:p>
          <a:p>
            <a:pPr>
              <a:spcAft>
                <a:spcPts val="600"/>
              </a:spcAft>
            </a:pPr>
            <a:endParaRPr sz="1300" b="0">
              <a:solidFill>
                <a:srgbClr val="666666"/>
              </a:solidFill>
            </a:endParaRPr>
          </a:p>
          <a:p>
            <a:r>
              <a:rPr sz="1600" b="1">
                <a:solidFill>
                  <a:srgbClr val="870002"/>
                </a:solidFill>
              </a:rPr>
              <a:t>Applications</a:t>
            </a:r>
          </a:p>
          <a:p>
            <a:pPr>
              <a:spcAft>
                <a:spcPts val="600"/>
              </a:spcAft>
            </a:pPr>
            <a:endParaRPr sz="1600" b="1">
              <a:solidFill>
                <a:srgbClr val="870002"/>
              </a:solidFill>
            </a:endParaRPr>
          </a:p>
          <a:p>
            <a:r>
              <a:rPr sz="1400" b="0">
                <a:solidFill>
                  <a:srgbClr val="333333"/>
                </a:solidFill>
              </a:rPr>
              <a:t>• Warehouse robot fleets</a:t>
            </a:r>
          </a:p>
          <a:p>
            <a:r>
              <a:rPr sz="1400" b="0">
                <a:solidFill>
                  <a:srgbClr val="333333"/>
                </a:solidFill>
              </a:rPr>
              <a:t>• Autonomous vehicle coordination</a:t>
            </a:r>
          </a:p>
          <a:p>
            <a:r>
              <a:rPr sz="1400" b="0">
                <a:solidFill>
                  <a:srgbClr val="333333"/>
                </a:solidFill>
              </a:rPr>
              <a:t>• Disaster response drone swarms</a:t>
            </a:r>
          </a:p>
          <a:p>
            <a:pPr>
              <a:spcAft>
                <a:spcPts val="600"/>
              </a:spcAft>
            </a:pPr>
            <a:endParaRPr sz="1400" b="0">
              <a:solidFill>
                <a:srgbClr val="333333"/>
              </a:solidFill>
            </a:endParaRPr>
          </a:p>
          <a:p>
            <a:r>
              <a:rPr sz="1400" b="1">
                <a:solidFill>
                  <a:srgbClr val="870002"/>
                </a:solidFill>
              </a:rPr>
              <a:t>Future Work</a:t>
            </a:r>
          </a:p>
          <a:p>
            <a:r>
              <a:rPr sz="1200" b="0">
                <a:solidFill>
                  <a:srgbClr val="666666"/>
                </a:solidFill>
              </a:rPr>
              <a:t>• Hanabi, scaling to N&gt;10, hybrid communication</a:t>
            </a:r>
          </a:p>
        </p:txBody>
      </p:sp>
      <p:pic>
        <p:nvPicPr>
          <p:cNvPr id="8" name="Picture 7" descr="White OU on dark, leafy picture background">
            <a:extLst>
              <a:ext uri="{FF2B5EF4-FFF2-40B4-BE49-F238E27FC236}">
                <a16:creationId xmlns:a16="http://schemas.microsoft.com/office/drawing/2014/main" id="{8C266089-6556-4465-4946-7FF5F19F80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544" y="162120"/>
            <a:ext cx="2124447" cy="212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541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4b9393-3a63-4fb0-b504-491aeaec59ea">
      <Terms xmlns="http://schemas.microsoft.com/office/infopath/2007/PartnerControls"/>
    </lcf76f155ced4ddcb4097134ff3c332f>
    <TaxCatchAll xmlns="1a06f832-0cff-4cdb-abec-3b86518291b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5DC1D04D61A94E99EF3D5719243FB9" ma:contentTypeVersion="10" ma:contentTypeDescription="Create a new document." ma:contentTypeScope="" ma:versionID="06fdd9913ec38ea6c536bd43977d9c18">
  <xsd:schema xmlns:xsd="http://www.w3.org/2001/XMLSchema" xmlns:xs="http://www.w3.org/2001/XMLSchema" xmlns:p="http://schemas.microsoft.com/office/2006/metadata/properties" xmlns:ns2="a94b9393-3a63-4fb0-b504-491aeaec59ea" xmlns:ns3="1a06f832-0cff-4cdb-abec-3b86518291bb" targetNamespace="http://schemas.microsoft.com/office/2006/metadata/properties" ma:root="true" ma:fieldsID="2459a7c07bbd612434c6f6a00f280a05" ns2:_="" ns3:_="">
    <xsd:import namespace="a94b9393-3a63-4fb0-b504-491aeaec59ea"/>
    <xsd:import namespace="1a06f832-0cff-4cdb-abec-3b86518291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4b9393-3a63-4fb0-b504-491aeaec59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a1ab900-2ec0-4401-a445-b65711cd6e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06f832-0cff-4cdb-abec-3b86518291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d391199-53b5-417f-aaff-abec2eea2f35}" ma:internalName="TaxCatchAll" ma:showField="CatchAllData" ma:web="1a06f832-0cff-4cdb-abec-3b86518291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20DFF8-CB66-40FF-BF90-2A3AD0F51832}">
  <ds:schemaRefs>
    <ds:schemaRef ds:uri="http://schemas.microsoft.com/office/2006/metadata/properties"/>
    <ds:schemaRef ds:uri="http://schemas.microsoft.com/office/infopath/2007/PartnerControls"/>
    <ds:schemaRef ds:uri="a94b9393-3a63-4fb0-b504-491aeaec59ea"/>
    <ds:schemaRef ds:uri="1a06f832-0cff-4cdb-abec-3b86518291bb"/>
  </ds:schemaRefs>
</ds:datastoreItem>
</file>

<file path=customXml/itemProps2.xml><?xml version="1.0" encoding="utf-8"?>
<ds:datastoreItem xmlns:ds="http://schemas.openxmlformats.org/officeDocument/2006/customXml" ds:itemID="{449183F3-593C-4597-A875-D6D1E2043D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3F0816-2263-4C52-8658-14DE2C0290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4b9393-3a63-4fb0-b504-491aeaec59ea"/>
    <ds:schemaRef ds:uri="1a06f832-0cff-4cdb-abec-3b86518291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14419</TotalTime>
  <Words>451</Words>
  <Application>Microsoft Office PowerPoint</Application>
  <PresentationFormat>Custom</PresentationFormat>
  <Paragraphs>167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Zachary Brecheisen</dc:creator>
  <cp:lastModifiedBy>Kadiyala, Vishnu P.</cp:lastModifiedBy>
  <cp:revision>350</cp:revision>
  <dcterms:created xsi:type="dcterms:W3CDTF">2019-01-08T21:13:45Z</dcterms:created>
  <dcterms:modified xsi:type="dcterms:W3CDTF">2026-04-01T13:52:12Z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0x0101007F5DC1D04D61A94E99EF3D5719243FB9</vt:lpwstr>
  </property>
  <property fmtid="{D5CDD505-2E9C-101B-9397-08002B2CF9AE}" pid="3" name="MediaServiceImageTags">
    <vt:lpwstr/>
  </property>
</Properties>
</file>
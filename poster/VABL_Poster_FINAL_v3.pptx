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4" r:id="rId5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/>
    <p:restoredTop sz="94658"/>
  </p:normalViewPr>
  <p:slideViewPr>
    <p:cSldViewPr snapToGrid="0">
      <p:cViewPr>
        <p:scale>
          <a:sx n="33" d="100"/>
          <a:sy n="33" d="100"/>
        </p:scale>
        <p:origin x="19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350AF-D586-8C48-8B3D-AA4F73FEF83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36A7A-D321-6640-9EA0-1894E9CA8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9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86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480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973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465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958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451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944" algn="l" defTabSz="652986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6D6-9569-5C48-8219-0FA3B276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CF058-28C5-3380-80DC-4C307F5C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CC00D-F941-E9E4-6FF3-7DF30F5A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B13-D1C4-FB3D-C69C-76E36C792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36A7A-D321-6640-9EA0-1894E9CA8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533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BF52406-52E5-454C-9716-52920D4BD16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42F3CC-AEBB-944F-9D49-E8019AA9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65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03110B6-4410-A64B-85A1-DAADD1A90EB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883F00-EDD3-374A-A81F-581494726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F2F153-3A0B-4340-BEAE-C0BD7802A6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E7FAFE-0A4E-7D4A-98C9-846A0CADB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EACC0A-02C8-7B42-9E09-37CF32431F1D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C5A204-18E3-484C-9BBB-F99C0E388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9E284F7-E633-674C-A371-8FFD7917B2E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DB613-214B-E54A-BE14-BF02B586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39F43D-F49E-8D46-8EAF-284030998475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9C09C-BFC4-9145-A3DD-88B4F3FC1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F16B761-BE78-6945-9B01-679129FA01FE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23FC65-CFA8-884F-B20E-55612D34A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40A55A8-A6DF-BB4D-BA0E-8415A4C1C5D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B507DC-5D7D-9648-9681-43844D8FE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F8C68A7-97CF-C346-80A8-EAFC76805E38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0A42F-D3B8-B94E-B495-7878203CB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D707B06-774F-EC42-9780-80010CCA5BC3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BB2D84-A3D0-1449-B431-D4B1D10B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4DCE887-F616-284F-947F-F7A155E2E11F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6FB661-9772-7047-AE06-904BFDC13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41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FFE8C666-BE86-664D-80F7-53B268192899}" type="datetime1">
              <a:rPr lang="en-US" smtClean="0"/>
              <a:pPr lvl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CB3A5EC8-CE6E-B94F-981A-886CD0377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49FD-FEBD-F933-9E97-54AD794F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D76D8275-7141-6AE1-CC4A-EE2AD5D6DF00}"/>
              </a:ext>
            </a:extLst>
          </p:cNvPr>
          <p:cNvSpPr txBox="1"/>
          <p:nvPr/>
        </p:nvSpPr>
        <p:spPr>
          <a:xfrm>
            <a:off x="2294559" y="21204581"/>
            <a:ext cx="28795041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0960" tIns="30480" rIns="60960" bIns="30480" anchor="t" anchorCtr="0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100">
                <a:solidFill>
                  <a:srgbClr val="666666"/>
                </a:solidFill>
              </a:rPr>
              <a:t>vishnupk@ou.edu  │  github.com/vishnukadiyala/vabl-multi-agent-coordination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2A3D8C-E46C-B98A-AC27-F526FFD6600A}"/>
              </a:ext>
            </a:extLst>
          </p:cNvPr>
          <p:cNvCxnSpPr>
            <a:cxnSpLocks/>
          </p:cNvCxnSpPr>
          <p:nvPr/>
        </p:nvCxnSpPr>
        <p:spPr>
          <a:xfrm>
            <a:off x="640080" y="21117496"/>
            <a:ext cx="31851600" cy="0"/>
          </a:xfrm>
          <a:prstGeom prst="line">
            <a:avLst/>
          </a:prstGeom>
          <a:ln w="57150">
            <a:solidFill>
              <a:srgbClr val="8700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3423C5-A5AD-021A-8EE6-E086221214D4}"/>
              </a:ext>
            </a:extLst>
          </p:cNvPr>
          <p:cNvSpPr/>
          <p:nvPr/>
        </p:nvSpPr>
        <p:spPr>
          <a:xfrm>
            <a:off x="0" y="0"/>
            <a:ext cx="32918400" cy="2607480"/>
          </a:xfrm>
          <a:prstGeom prst="rect">
            <a:avLst/>
          </a:prstGeom>
          <a:solidFill>
            <a:srgbClr val="8700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 dirty="0"/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217BD0E7-27BF-D36A-2F75-5DFB9D4A7307}"/>
              </a:ext>
            </a:extLst>
          </p:cNvPr>
          <p:cNvSpPr/>
          <p:nvPr/>
        </p:nvSpPr>
        <p:spPr>
          <a:xfrm>
            <a:off x="9348174" y="380411"/>
            <a:ext cx="14222052" cy="18466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3200" b="1">
                <a:solidFill>
                  <a:srgbClr val="FFFFFF"/>
                </a:solidFill>
              </a:rPr>
              <a:t>Learning to Coordinate Without Talking</a:t>
            </a:r>
          </a:p>
          <a:p>
            <a:pPr algn="ctr"/>
            <a:r>
              <a:rPr sz="2000">
                <a:solidFill>
                  <a:srgbClr val="CCEECC"/>
                </a:solidFill>
              </a:rPr>
              <a:t>Data-Driven Belief Models for Robust Multi-Agent Coordination</a:t>
            </a:r>
          </a:p>
          <a:p>
            <a:pPr algn="ctr"/>
            <a:r>
              <a:rPr sz="1400">
                <a:solidFill>
                  <a:srgbClr val="DDDDDD"/>
                </a:solidFill>
              </a:rPr>
              <a:t>Vishnu Kadiyala, Mohammed Atiquzzaman — School of Computer Science, University of Oklahoma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AE46C-63EF-2B6D-D4BD-038FB3E6D296}"/>
              </a:ext>
            </a:extLst>
          </p:cNvPr>
          <p:cNvGrpSpPr/>
          <p:nvPr/>
        </p:nvGrpSpPr>
        <p:grpSpPr>
          <a:xfrm>
            <a:off x="29161366" y="573478"/>
            <a:ext cx="3064963" cy="2018173"/>
            <a:chOff x="38586497" y="846117"/>
            <a:chExt cx="4597445" cy="3027260"/>
          </a:xfrm>
        </p:grpSpPr>
        <p:sp>
          <p:nvSpPr>
            <p:cNvPr id="24" name="Rectangle 57">
              <a:extLst>
                <a:ext uri="{FF2B5EF4-FFF2-40B4-BE49-F238E27FC236}">
                  <a16:creationId xmlns:a16="http://schemas.microsoft.com/office/drawing/2014/main" id="{6CC55CE7-BAC4-07C3-CDB4-61B222BC817A}"/>
                </a:ext>
              </a:extLst>
            </p:cNvPr>
            <p:cNvSpPr/>
            <p:nvPr/>
          </p:nvSpPr>
          <p:spPr>
            <a:xfrm>
              <a:off x="38586497" y="2950047"/>
              <a:ext cx="4597445" cy="92333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6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Poster ID: ###</a:t>
              </a:r>
            </a:p>
          </p:txBody>
        </p:sp>
        <p:sp>
          <p:nvSpPr>
            <p:cNvPr id="26" name="Rectangle 57">
              <a:extLst>
                <a:ext uri="{FF2B5EF4-FFF2-40B4-BE49-F238E27FC236}">
                  <a16:creationId xmlns:a16="http://schemas.microsoft.com/office/drawing/2014/main" id="{0EF44E84-D26C-734E-6812-E51814766526}"/>
                </a:ext>
              </a:extLst>
            </p:cNvPr>
            <p:cNvSpPr/>
            <p:nvPr/>
          </p:nvSpPr>
          <p:spPr>
            <a:xfrm>
              <a:off x="39486250" y="846117"/>
              <a:ext cx="2797941" cy="1908215"/>
            </a:xfrm>
            <a:prstGeom prst="rect">
              <a:avLst/>
            </a:prstGeom>
            <a:noFill/>
            <a:ln cap="flat">
              <a:solidFill>
                <a:schemeClr val="bg1"/>
              </a:solidFill>
              <a:prstDash val="solid"/>
            </a:ln>
          </p:spPr>
          <p:txBody>
            <a:bodyPr vert="horz" wrap="square" lIns="60960" tIns="30480" rIns="60960" bIns="30480" anchor="t" anchorCtr="1" compatLnSpc="1">
              <a:spAutoFit/>
            </a:bodyPr>
            <a:lstStyle/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QR CODE</a:t>
              </a:r>
            </a:p>
            <a:p>
              <a:pPr algn="ctr" defTabSz="304815">
                <a:spcAft>
                  <a:spcPts val="800"/>
                </a:spcAft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1" dirty="0">
                  <a:solidFill>
                    <a:schemeClr val="bg1"/>
                  </a:solidFill>
                  <a:latin typeface="Calibri"/>
                  <a:ea typeface="等线"/>
                  <a:cs typeface="Calibri"/>
                </a:rPr>
                <a:t>To Online submission</a:t>
              </a:r>
            </a:p>
          </p:txBody>
        </p:sp>
      </p:grpSp>
      <p:sp>
        <p:nvSpPr>
          <p:cNvPr id="34" name="Rectangle 57">
            <a:extLst>
              <a:ext uri="{FF2B5EF4-FFF2-40B4-BE49-F238E27FC236}">
                <a16:creationId xmlns:a16="http://schemas.microsoft.com/office/drawing/2014/main" id="{7BF7717F-9001-A47F-680A-A73564EEA234}"/>
              </a:ext>
            </a:extLst>
          </p:cNvPr>
          <p:cNvSpPr/>
          <p:nvPr/>
        </p:nvSpPr>
        <p:spPr>
          <a:xfrm>
            <a:off x="402319" y="380411"/>
            <a:ext cx="2201241" cy="1831912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</a:ln>
        </p:spPr>
        <p:txBody>
          <a:bodyPr vert="horz" wrap="square" lIns="60960" tIns="30480" rIns="60960" bIns="30480" anchor="t" anchorCtr="1" compatLnSpc="1">
            <a:spAutoFit/>
          </a:bodyPr>
          <a:lstStyle/>
          <a:p>
            <a:pPr algn="ctr" defTabSz="304815">
              <a:lnSpc>
                <a:spcPct val="15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>
                <a:solidFill>
                  <a:srgbClr val="FFFFFF"/>
                </a:solidFill>
              </a:rPr>
              <a:t>OU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D709E-47B3-E4B7-B0E8-C23313C6D490}"/>
              </a:ext>
            </a:extLst>
          </p:cNvPr>
          <p:cNvGrpSpPr/>
          <p:nvPr/>
        </p:nvGrpSpPr>
        <p:grpSpPr>
          <a:xfrm>
            <a:off x="650909" y="2987891"/>
            <a:ext cx="10413331" cy="8734624"/>
            <a:chOff x="650909" y="2987891"/>
            <a:chExt cx="10413331" cy="8734624"/>
          </a:xfrm>
        </p:grpSpPr>
        <p:sp>
          <p:nvSpPr>
            <p:cNvPr id="2" name="TextBox 14">
              <a:extLst>
                <a:ext uri="{FF2B5EF4-FFF2-40B4-BE49-F238E27FC236}">
                  <a16:creationId xmlns:a16="http://schemas.microsoft.com/office/drawing/2014/main" id="{F2BF50F8-3008-5EF5-565A-A037660F9EF4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" name="Rounded Rectangle 15">
              <a:extLst>
                <a:ext uri="{FF2B5EF4-FFF2-40B4-BE49-F238E27FC236}">
                  <a16:creationId xmlns:a16="http://schemas.microsoft.com/office/drawing/2014/main" id="{038AA21D-4FFD-1F57-377A-0654E4CFE044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THE PROBLEM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FCEED2-3276-DB35-A36B-3C9BC67AA442}"/>
              </a:ext>
            </a:extLst>
          </p:cNvPr>
          <p:cNvGrpSpPr/>
          <p:nvPr/>
        </p:nvGrpSpPr>
        <p:grpSpPr>
          <a:xfrm>
            <a:off x="11262434" y="2987891"/>
            <a:ext cx="20963895" cy="8734624"/>
            <a:chOff x="650909" y="2987891"/>
            <a:chExt cx="10413331" cy="8734624"/>
          </a:xfrm>
        </p:grpSpPr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AAD973E7-88F0-C479-4D53-C9FEBF41C496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28" name="Rounded Rectangle 15">
              <a:extLst>
                <a:ext uri="{FF2B5EF4-FFF2-40B4-BE49-F238E27FC236}">
                  <a16:creationId xmlns:a16="http://schemas.microsoft.com/office/drawing/2014/main" id="{B16AD649-830E-04FA-C941-2B9E128B1A5B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VABL: HOW IT WORKS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AF1F8B4-1598-8635-601D-A62CE912FD76}"/>
              </a:ext>
            </a:extLst>
          </p:cNvPr>
          <p:cNvGrpSpPr/>
          <p:nvPr/>
        </p:nvGrpSpPr>
        <p:grpSpPr>
          <a:xfrm>
            <a:off x="670707" y="11986632"/>
            <a:ext cx="10413331" cy="8734624"/>
            <a:chOff x="650909" y="2987891"/>
            <a:chExt cx="10413331" cy="8734624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C9D28CD7-2E60-98DC-0396-DCD2824E64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93413C1D-48A0-8096-870D-102DBF6617C0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EVIDENCE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3842B7-68E1-E7B1-B1B9-B4AD4E884D4F}"/>
              </a:ext>
            </a:extLst>
          </p:cNvPr>
          <p:cNvGrpSpPr/>
          <p:nvPr/>
        </p:nvGrpSpPr>
        <p:grpSpPr>
          <a:xfrm>
            <a:off x="11282232" y="11986632"/>
            <a:ext cx="10413331" cy="8734624"/>
            <a:chOff x="650909" y="2987891"/>
            <a:chExt cx="10413331" cy="8734624"/>
          </a:xfrm>
        </p:grpSpPr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7772EC3D-1388-91F3-B79A-4860F1BE677F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A4F942D2-2122-B617-CAB7-77376E729975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RESULTS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4706FF-BC15-16D2-6430-AACCA5A148C6}"/>
              </a:ext>
            </a:extLst>
          </p:cNvPr>
          <p:cNvGrpSpPr/>
          <p:nvPr/>
        </p:nvGrpSpPr>
        <p:grpSpPr>
          <a:xfrm>
            <a:off x="21893758" y="11986632"/>
            <a:ext cx="10413331" cy="8734624"/>
            <a:chOff x="650909" y="2987891"/>
            <a:chExt cx="10413331" cy="8734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856F57B8-3AE3-B432-5B16-CA851E2C0FA9}"/>
                </a:ext>
              </a:extLst>
            </p:cNvPr>
            <p:cNvSpPr txBox="1"/>
            <p:nvPr/>
          </p:nvSpPr>
          <p:spPr>
            <a:xfrm>
              <a:off x="670707" y="3891536"/>
              <a:ext cx="10393533" cy="7830979"/>
            </a:xfrm>
            <a:prstGeom prst="roundRect">
              <a:avLst>
                <a:gd name="adj" fmla="val 2326"/>
              </a:avLst>
            </a:prstGeom>
            <a:ln w="28575">
              <a:solidFill>
                <a:srgbClr val="87000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60960" tIns="30480" rIns="60960" bIns="30480" anchor="t" anchorCtr="0" compatLnSpc="1">
              <a:spAutoFit/>
            </a:bodyPr>
            <a:lstStyle/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  <a:p>
              <a:pPr>
                <a:spcAft>
                  <a:spcPts val="800"/>
                </a:spcAft>
              </a:pPr>
              <a:endParaRPr lang="en-US" sz="2000" dirty="0"/>
            </a:p>
          </p:txBody>
        </p:sp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65B57A5-586C-ED2F-EA67-C2F03B4A28F7}"/>
                </a:ext>
              </a:extLst>
            </p:cNvPr>
            <p:cNvSpPr/>
            <p:nvPr/>
          </p:nvSpPr>
          <p:spPr>
            <a:xfrm>
              <a:off x="650909" y="2987891"/>
              <a:ext cx="10393533" cy="785351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w"/>
                <a:gd name="f4" fmla="val h"/>
                <a:gd name="f5" fmla="val ss"/>
                <a:gd name="f6" fmla="val 0"/>
                <a:gd name="f7" fmla="*/ 5419351 1 1725033"/>
                <a:gd name="f8" fmla="val 45"/>
                <a:gd name="f9" fmla="val 3600"/>
                <a:gd name="f10" fmla="abs f3"/>
                <a:gd name="f11" fmla="abs f4"/>
                <a:gd name="f12" fmla="abs f5"/>
                <a:gd name="f13" fmla="*/ f7 1 180"/>
                <a:gd name="f14" fmla="+- 0 0 f1"/>
                <a:gd name="f15" fmla="+- f6 f9 0"/>
                <a:gd name="f16" fmla="?: f10 f3 1"/>
                <a:gd name="f17" fmla="?: f11 f4 1"/>
                <a:gd name="f18" fmla="?: f12 f5 1"/>
                <a:gd name="f19" fmla="*/ f8 f13 1"/>
                <a:gd name="f20" fmla="+- f6 0 f15"/>
                <a:gd name="f21" fmla="+- f15 0 f6"/>
                <a:gd name="f22" fmla="*/ f16 1 21600"/>
                <a:gd name="f23" fmla="*/ f17 1 21600"/>
                <a:gd name="f24" fmla="*/ 21600 f16 1"/>
                <a:gd name="f25" fmla="*/ 21600 f17 1"/>
                <a:gd name="f26" fmla="+- 0 0 f19"/>
                <a:gd name="f27" fmla="abs f20"/>
                <a:gd name="f28" fmla="abs f21"/>
                <a:gd name="f29" fmla="?: f20 f14 f1"/>
                <a:gd name="f30" fmla="?: f20 f1 f14"/>
                <a:gd name="f31" fmla="?: f20 f2 f1"/>
                <a:gd name="f32" fmla="?: f20 f1 f2"/>
                <a:gd name="f33" fmla="?: f21 f14 f1"/>
                <a:gd name="f34" fmla="?: f21 f1 f14"/>
                <a:gd name="f35" fmla="?: f20 0 f0"/>
                <a:gd name="f36" fmla="?: f20 f0 0"/>
                <a:gd name="f37" fmla="min f23 f22"/>
                <a:gd name="f38" fmla="*/ f24 1 f18"/>
                <a:gd name="f39" fmla="*/ f25 1 f18"/>
                <a:gd name="f40" fmla="*/ f26 f0 1"/>
                <a:gd name="f41" fmla="?: f20 f32 f31"/>
                <a:gd name="f42" fmla="?: f20 f31 f32"/>
                <a:gd name="f43" fmla="?: f21 f30 f29"/>
                <a:gd name="f44" fmla="val f38"/>
                <a:gd name="f45" fmla="val f39"/>
                <a:gd name="f46" fmla="*/ f40 1 f7"/>
                <a:gd name="f47" fmla="?: f21 f42 f41"/>
                <a:gd name="f48" fmla="*/ f15 f37 1"/>
                <a:gd name="f49" fmla="*/ f6 f37 1"/>
                <a:gd name="f50" fmla="*/ f27 f37 1"/>
                <a:gd name="f51" fmla="*/ f28 f37 1"/>
                <a:gd name="f52" fmla="+- f45 0 f9"/>
                <a:gd name="f53" fmla="+- f44 0 f9"/>
                <a:gd name="f54" fmla="+- f46 0 f1"/>
                <a:gd name="f55" fmla="*/ f45 f37 1"/>
                <a:gd name="f56" fmla="*/ f44 f37 1"/>
                <a:gd name="f57" fmla="+- f45 0 f52"/>
                <a:gd name="f58" fmla="+- f44 0 f53"/>
                <a:gd name="f59" fmla="+- f52 0 f45"/>
                <a:gd name="f60" fmla="+- f53 0 f44"/>
                <a:gd name="f61" fmla="+- f54 f1 0"/>
                <a:gd name="f62" fmla="*/ f52 f37 1"/>
                <a:gd name="f63" fmla="*/ f53 f37 1"/>
                <a:gd name="f64" fmla="abs f57"/>
                <a:gd name="f65" fmla="?: f57 0 f0"/>
                <a:gd name="f66" fmla="?: f57 f0 0"/>
                <a:gd name="f67" fmla="?: f57 f33 f34"/>
                <a:gd name="f68" fmla="abs f58"/>
                <a:gd name="f69" fmla="abs f59"/>
                <a:gd name="f70" fmla="?: f58 f14 f1"/>
                <a:gd name="f71" fmla="?: f58 f1 f14"/>
                <a:gd name="f72" fmla="?: f58 f2 f1"/>
                <a:gd name="f73" fmla="?: f58 f1 f2"/>
                <a:gd name="f74" fmla="abs f60"/>
                <a:gd name="f75" fmla="?: f60 f14 f1"/>
                <a:gd name="f76" fmla="?: f60 f1 f14"/>
                <a:gd name="f77" fmla="?: f60 f36 f35"/>
                <a:gd name="f78" fmla="?: f60 f35 f36"/>
                <a:gd name="f79" fmla="*/ f61 f7 1"/>
                <a:gd name="f80" fmla="?: f21 f66 f65"/>
                <a:gd name="f81" fmla="?: f21 f65 f66"/>
                <a:gd name="f82" fmla="?: f58 f73 f72"/>
                <a:gd name="f83" fmla="?: f58 f72 f73"/>
                <a:gd name="f84" fmla="?: f59 f71 f70"/>
                <a:gd name="f85" fmla="?: f20 f77 f78"/>
                <a:gd name="f86" fmla="?: f20 f75 f76"/>
                <a:gd name="f87" fmla="*/ f79 1 f0"/>
                <a:gd name="f88" fmla="*/ f64 f37 1"/>
                <a:gd name="f89" fmla="*/ f68 f37 1"/>
                <a:gd name="f90" fmla="*/ f69 f37 1"/>
                <a:gd name="f91" fmla="*/ f74 f37 1"/>
                <a:gd name="f92" fmla="?: f57 f80 f81"/>
                <a:gd name="f93" fmla="?: f59 f83 f82"/>
                <a:gd name="f94" fmla="+- 0 0 f87"/>
                <a:gd name="f95" fmla="+- 0 0 f94"/>
                <a:gd name="f96" fmla="*/ f95 f0 1"/>
                <a:gd name="f97" fmla="*/ f96 1 f7"/>
                <a:gd name="f98" fmla="+- f97 0 f1"/>
                <a:gd name="f99" fmla="cos 1 f98"/>
                <a:gd name="f100" fmla="+- 0 0 f99"/>
                <a:gd name="f101" fmla="+- 0 0 f100"/>
                <a:gd name="f102" fmla="val f101"/>
                <a:gd name="f103" fmla="+- 0 0 f102"/>
                <a:gd name="f104" fmla="*/ f9 f103 1"/>
                <a:gd name="f105" fmla="*/ f104 3163 1"/>
                <a:gd name="f106" fmla="*/ f105 1 7636"/>
                <a:gd name="f107" fmla="+- f6 f106 0"/>
                <a:gd name="f108" fmla="+- f44 0 f106"/>
                <a:gd name="f109" fmla="+- f45 0 f106"/>
                <a:gd name="f110" fmla="*/ f107 f37 1"/>
                <a:gd name="f111" fmla="*/ f108 f37 1"/>
                <a:gd name="f112" fmla="*/ f109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0" t="f110" r="f111" b="f112"/>
              <a:pathLst>
                <a:path>
                  <a:moveTo>
                    <a:pt x="f48" y="f49"/>
                  </a:moveTo>
                  <a:arcTo wR="f50" hR="f51" stAng="f47" swAng="f43"/>
                  <a:lnTo>
                    <a:pt x="f49" y="f62"/>
                  </a:lnTo>
                  <a:arcTo wR="f51" hR="f88" stAng="f92" swAng="f67"/>
                  <a:lnTo>
                    <a:pt x="f63" y="f55"/>
                  </a:lnTo>
                  <a:arcTo wR="f89" hR="f90" stAng="f93" swAng="f84"/>
                  <a:lnTo>
                    <a:pt x="f56" y="f48"/>
                  </a:lnTo>
                  <a:arcTo wR="f91" hR="f50" stAng="f85" swAng="f86"/>
                  <a:close/>
                </a:path>
              </a:pathLst>
            </a:custGeom>
            <a:solidFill>
              <a:srgbClr val="870002"/>
            </a:solidFill>
            <a:ln w="12701" cap="flat">
              <a:solidFill>
                <a:srgbClr val="172C51"/>
              </a:solidFill>
              <a:prstDash val="solid"/>
              <a:miter/>
            </a:ln>
          </p:spPr>
          <p:txBody>
            <a:bodyPr vert="horz" wrap="square" lIns="60960" tIns="30480" rIns="60960" bIns="30480" anchor="ctr" anchorCtr="1" compatLnSpc="1">
              <a:noAutofit/>
            </a:bodyPr>
            <a:lstStyle/>
            <a:p>
              <a:pPr algn="ctr" defTabSz="304815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sz="2000" b="1">
                  <a:solidFill>
                    <a:srgbClr val="FFFFFF"/>
                  </a:solidFill>
                </a:rPr>
                <a:t>CONCLUSIONS &amp; IMPACT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23544" y="4050791"/>
            <a:ext cx="98663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Can AI agents coordinate</a:t>
            </a:r>
          </a:p>
          <a:p>
            <a:r>
              <a:rPr sz="2000" b="1">
                <a:solidFill>
                  <a:srgbClr val="1A1A1A"/>
                </a:solidFill>
              </a:rPr>
              <a:t>without communication?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A QB reads his receiver and throws — no</a:t>
            </a:r>
          </a:p>
          <a:p>
            <a:r>
              <a:rPr sz="1400" b="0">
                <a:solidFill>
                  <a:srgbClr val="333333"/>
                </a:solidFill>
              </a:rPr>
              <a:t>audible needed. AI agents should coordinate</a:t>
            </a:r>
          </a:p>
          <a:p>
            <a:r>
              <a:rPr sz="1400" b="0">
                <a:solidFill>
                  <a:srgbClr val="333333"/>
                </a:solidFill>
              </a:rPr>
              <a:t>by predicting teammates, not communicating.</a:t>
            </a:r>
          </a:p>
          <a:p>
            <a:pPr>
              <a:spcAft>
                <a:spcPts val="600"/>
              </a:spcAft>
            </a:pPr>
          </a:p>
          <a:p>
            <a:r>
              <a:rPr sz="1300" b="0">
                <a:solidFill>
                  <a:srgbClr val="666666"/>
                </a:solidFill>
              </a:rPr>
              <a:t>Setting: Dec-POMDPs — partial observations,</a:t>
            </a:r>
          </a:p>
          <a:p>
            <a:r>
              <a:rPr sz="1300" b="0">
                <a:solidFill>
                  <a:srgbClr val="666666"/>
                </a:solidFill>
              </a:rPr>
              <a:t>no shared communication channel.</a:t>
            </a:r>
          </a:p>
          <a:p>
            <a:pPr>
              <a:spcAft>
                <a:spcPts val="600"/>
              </a:spcAft>
            </a:pPr>
          </a:p>
          <a:p>
            <a:r>
              <a:rPr sz="1600" b="1">
                <a:solidFill>
                  <a:srgbClr val="870002"/>
                </a:solidFill>
              </a:rPr>
              <a:t>Coordination Collapse</a:t>
            </a:r>
          </a:p>
          <a:p>
            <a:r>
              <a:rPr sz="1300" b="0">
                <a:solidFill>
                  <a:srgbClr val="333333"/>
                </a:solidFill>
              </a:rPr>
              <a:t>Agents learn teamwork then forget it — like</a:t>
            </a:r>
          </a:p>
          <a:p>
            <a:r>
              <a:rPr sz="1300" b="0">
                <a:solidFill>
                  <a:srgbClr val="333333"/>
                </a:solidFill>
              </a:rPr>
              <a:t>a team falling apart in the 4th quarter.</a:t>
            </a:r>
          </a:p>
        </p:txBody>
      </p:sp>
      <p:pic>
        <p:nvPicPr>
          <p:cNvPr id="84" name="Picture 83" descr="fig_collapse_all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8165592"/>
            <a:ext cx="8523389" cy="3282696"/>
          </a:xfrm>
          <a:prstGeom prst="rect">
            <a:avLst/>
          </a:prstGeom>
        </p:spPr>
      </p:pic>
      <p:pic>
        <p:nvPicPr>
          <p:cNvPr id="85" name="Picture 84" descr="fig_architectu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28" y="4050791"/>
            <a:ext cx="7507111" cy="32004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1539728" y="7434071"/>
            <a:ext cx="100263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Three steps, no communication:</a:t>
            </a:r>
          </a:p>
          <a:p>
            <a:r>
              <a:rPr sz="1400" b="0">
                <a:solidFill>
                  <a:srgbClr val="333333"/>
                </a:solidFill>
              </a:rPr>
              <a:t>❶ Observe teammate actions</a:t>
            </a:r>
          </a:p>
          <a:p>
            <a:r>
              <a:rPr sz="1400" b="0">
                <a:solidFill>
                  <a:srgbClr val="333333"/>
                </a:solidFill>
              </a:rPr>
              <a:t>❷ Attend — MHA (h=4) weighs teammates</a:t>
            </a:r>
          </a:p>
          <a:p>
            <a:r>
              <a:rPr sz="1400" b="0">
                <a:solidFill>
                  <a:srgbClr val="333333"/>
                </a:solidFill>
              </a:rPr>
              <a:t>❸ Update belief via GRU</a:t>
            </a:r>
          </a:p>
          <a:p>
            <a:r>
              <a:rPr sz="1400" b="0">
                <a:solidFill>
                  <a:srgbClr val="333333"/>
                </a:solidFill>
              </a:rPr>
              <a:t>❹ Predict next actions (Theory of Mind)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1A1A1A"/>
                </a:solidFill>
              </a:rPr>
              <a:t>L = L_PPO + 0.05 × L_prediction</a:t>
            </a:r>
          </a:p>
          <a:p>
            <a:r>
              <a:rPr sz="1400" b="1">
                <a:solidFill>
                  <a:srgbClr val="2E7D32"/>
                </a:solidFill>
              </a:rPr>
              <a:t>Prediction accuracy: 17% → 86%</a:t>
            </a:r>
          </a:p>
          <a:p>
            <a:r>
              <a:rPr sz="1200" b="0">
                <a:solidFill>
                  <a:srgbClr val="666666"/>
                </a:solidFill>
              </a:rPr>
              <a:t>CTDE: centralized critic, decentralized actors</a:t>
            </a:r>
          </a:p>
        </p:txBody>
      </p:sp>
      <p:pic>
        <p:nvPicPr>
          <p:cNvPr id="87" name="Picture 86" descr="fig_hero_collap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1884" y="4050791"/>
            <a:ext cx="9484019" cy="50292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1931884" y="9262872"/>
            <a:ext cx="100263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VABL: 38% collapse, no communication.</a:t>
            </a:r>
          </a:p>
          <a:p>
            <a:r>
              <a:rPr sz="1600" b="1">
                <a:solidFill>
                  <a:srgbClr val="870002"/>
                </a:solidFill>
              </a:rPr>
              <a:t>MAPPO &amp; AERIAL: 100% collapse.</a:t>
            </a:r>
          </a:p>
          <a:p>
            <a:r>
              <a:rPr sz="1400" b="0">
                <a:solidFill>
                  <a:srgbClr val="666666"/>
                </a:solidFill>
              </a:rPr>
              <a:t>TarMAC: 88% collapse, needs comm. channel.</a:t>
            </a:r>
          </a:p>
        </p:txBody>
      </p:sp>
      <p:pic>
        <p:nvPicPr>
          <p:cNvPr id="89" name="Picture 88" descr="fig_variance_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13048488"/>
            <a:ext cx="7866046" cy="50292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41832" y="18260568"/>
            <a:ext cx="98663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D32"/>
                </a:solidFill>
              </a:rPr>
              <a:t>VABL std dev 1.7 vs MAPPO 20.3</a:t>
            </a:r>
          </a:p>
          <a:p>
            <a:r>
              <a:rPr sz="1400" b="0">
                <a:solidFill>
                  <a:srgbClr val="333333"/>
                </a:solidFill>
              </a:rPr>
              <a:t>across 5 seeds (Simple Coordination).</a:t>
            </a:r>
          </a:p>
        </p:txBody>
      </p:sp>
      <p:pic>
        <p:nvPicPr>
          <p:cNvPr id="91" name="Picture 90" descr="fig_ablation_cramp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8016" y="13048488"/>
            <a:ext cx="7787738" cy="4572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1558016" y="17803368"/>
            <a:ext cx="98663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</a:rPr>
              <a:t>Key Results (5 seeds, 95% CIs)</a:t>
            </a:r>
          </a:p>
          <a:p>
            <a:pPr>
              <a:spcAft>
                <a:spcPts val="600"/>
              </a:spcAft>
            </a:pPr>
          </a:p>
          <a:p>
            <a:r>
              <a:rPr sz="1300" b="0">
                <a:solidFill>
                  <a:srgbClr val="333333"/>
                </a:solidFill>
              </a:rPr>
              <a:t>• Overcooked: 3.3× higher reward than MAPPO</a:t>
            </a:r>
          </a:p>
          <a:p>
            <a:r>
              <a:rPr sz="1300" b="0">
                <a:solidFill>
                  <a:srgbClr val="333333"/>
                </a:solidFill>
              </a:rPr>
              <a:t>• 38% collapse vs 100% (MAPPO, AERIAL)</a:t>
            </a:r>
          </a:p>
          <a:p>
            <a:r>
              <a:rPr sz="1300" b="0">
                <a:solidFill>
                  <a:srgbClr val="333333"/>
                </a:solidFill>
              </a:rPr>
              <a:t>• TarMAC (comm.): Final 56.6 but 88% collapse</a:t>
            </a:r>
          </a:p>
          <a:p>
            <a:r>
              <a:rPr sz="1300" b="0">
                <a:solidFill>
                  <a:srgbClr val="333333"/>
                </a:solidFill>
              </a:rPr>
              <a:t>• 5-agent: VABL 95.7±3.3 vs MAPPO 84.0±10.4</a:t>
            </a:r>
          </a:p>
          <a:p>
            <a:r>
              <a:rPr sz="1300" b="0">
                <a:solidFill>
                  <a:srgbClr val="333333"/>
                </a:solidFill>
              </a:rPr>
              <a:t>• 10M steps: MAPPO collapses to zero reward</a:t>
            </a:r>
          </a:p>
          <a:p>
            <a:pPr>
              <a:spcAft>
                <a:spcPts val="600"/>
              </a:spcAft>
            </a:pPr>
          </a:p>
          <a:p>
            <a:r>
              <a:rPr sz="1300" b="1">
                <a:solidFill>
                  <a:srgbClr val="2E7D32"/>
                </a:solidFill>
              </a:rPr>
              <a:t>Cramped Room ablation confirms: Full VABL =</a:t>
            </a:r>
          </a:p>
          <a:p>
            <a:r>
              <a:rPr sz="1300" b="1">
                <a:solidFill>
                  <a:srgbClr val="2E7D32"/>
                </a:solidFill>
              </a:rPr>
              <a:t>highest peak (1030±70), lowest variance.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165056" y="13048488"/>
            <a:ext cx="9866376" cy="739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</a:rPr>
              <a:t>Key Insight</a:t>
            </a:r>
          </a:p>
          <a:p>
            <a:pPr>
              <a:spcAft>
                <a:spcPts val="600"/>
              </a:spcAft>
            </a:pPr>
          </a:p>
          <a:p>
            <a:r>
              <a:rPr sz="1500" b="0">
                <a:solidFill>
                  <a:srgbClr val="1A1A1A"/>
                </a:solidFill>
              </a:rPr>
              <a:t>Every method discovers coordination.</a:t>
            </a:r>
          </a:p>
          <a:p>
            <a:r>
              <a:rPr sz="1500" b="1">
                <a:solidFill>
                  <a:srgbClr val="1A1A1A"/>
                </a:solidFill>
              </a:rPr>
              <a:t>The challenge is keeping it.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VABL’s auxiliary prediction loss prevents</a:t>
            </a:r>
          </a:p>
          <a:p>
            <a:r>
              <a:rPr sz="1400" b="0">
                <a:solidFill>
                  <a:srgbClr val="333333"/>
                </a:solidFill>
              </a:rPr>
              <a:t>belief drift, sustaining coordination</a:t>
            </a:r>
          </a:p>
          <a:p>
            <a:r>
              <a:rPr sz="1400" b="0">
                <a:solidFill>
                  <a:srgbClr val="333333"/>
                </a:solidFill>
              </a:rPr>
              <a:t>without any communication channel.</a:t>
            </a:r>
          </a:p>
          <a:p>
            <a:pPr>
              <a:spcAft>
                <a:spcPts val="600"/>
              </a:spcAft>
            </a:pPr>
          </a:p>
          <a:p>
            <a:r>
              <a:rPr sz="1600" b="1">
                <a:solidFill>
                  <a:srgbClr val="870002"/>
                </a:solidFill>
              </a:rPr>
              <a:t>Data Science Contributions</a:t>
            </a:r>
          </a:p>
          <a:p>
            <a:pPr>
              <a:spcAft>
                <a:spcPts val="600"/>
              </a:spcAft>
            </a:pPr>
          </a:p>
          <a:p>
            <a:r>
              <a:rPr sz="1300" b="0">
                <a:solidFill>
                  <a:srgbClr val="333333"/>
                </a:solidFill>
              </a:rPr>
              <a:t>• Behavioral prediction from sequential</a:t>
            </a:r>
          </a:p>
          <a:p>
            <a:r>
              <a:rPr sz="1300" b="0">
                <a:solidFill>
                  <a:srgbClr val="666666"/>
                </a:solidFill>
              </a:rPr>
              <a:t>  observational data (86% accuracy)</a:t>
            </a:r>
          </a:p>
          <a:p>
            <a:r>
              <a:rPr sz="1300" b="0">
                <a:solidFill>
                  <a:srgbClr val="333333"/>
                </a:solidFill>
              </a:rPr>
              <a:t>• Self-supervised regularization prevents</a:t>
            </a:r>
          </a:p>
          <a:p>
            <a:r>
              <a:rPr sz="1300" b="0">
                <a:solidFill>
                  <a:srgbClr val="666666"/>
                </a:solidFill>
              </a:rPr>
              <a:t>  catastrophic forgetting (2.3× variance ↓)</a:t>
            </a:r>
          </a:p>
          <a:p>
            <a:r>
              <a:rPr sz="1300" b="0">
                <a:solidFill>
                  <a:srgbClr val="333333"/>
                </a:solidFill>
              </a:rPr>
              <a:t>• Rigorous evaluation: 5 seeds, 4 baselines,</a:t>
            </a:r>
          </a:p>
          <a:p>
            <a:r>
              <a:rPr sz="1300" b="0">
                <a:solidFill>
                  <a:srgbClr val="666666"/>
                </a:solidFill>
              </a:rPr>
              <a:t>  3 environments, 10M-step extended runs</a:t>
            </a:r>
          </a:p>
          <a:p>
            <a:pPr>
              <a:spcAft>
                <a:spcPts val="600"/>
              </a:spcAft>
            </a:pPr>
          </a:p>
          <a:p>
            <a:r>
              <a:rPr sz="1600" b="1">
                <a:solidFill>
                  <a:srgbClr val="870002"/>
                </a:solidFill>
              </a:rPr>
              <a:t>Applications</a:t>
            </a:r>
          </a:p>
          <a:p>
            <a:pPr>
              <a:spcAft>
                <a:spcPts val="600"/>
              </a:spcAft>
            </a:pPr>
          </a:p>
          <a:p>
            <a:r>
              <a:rPr sz="1400" b="0">
                <a:solidFill>
                  <a:srgbClr val="333333"/>
                </a:solidFill>
              </a:rPr>
              <a:t>• Warehouse robot fleets</a:t>
            </a:r>
          </a:p>
          <a:p>
            <a:r>
              <a:rPr sz="1400" b="0">
                <a:solidFill>
                  <a:srgbClr val="333333"/>
                </a:solidFill>
              </a:rPr>
              <a:t>• Autonomous vehicle coordination</a:t>
            </a:r>
          </a:p>
          <a:p>
            <a:r>
              <a:rPr sz="1400" b="0">
                <a:solidFill>
                  <a:srgbClr val="333333"/>
                </a:solidFill>
              </a:rPr>
              <a:t>• Disaster response drone swarms</a:t>
            </a:r>
          </a:p>
          <a:p>
            <a:pPr>
              <a:spcAft>
                <a:spcPts val="600"/>
              </a:spcAft>
            </a:pPr>
          </a:p>
          <a:p>
            <a:r>
              <a:rPr sz="1400" b="1">
                <a:solidFill>
                  <a:srgbClr val="870002"/>
                </a:solidFill>
              </a:rPr>
              <a:t>Future Work</a:t>
            </a:r>
          </a:p>
          <a:p>
            <a:r>
              <a:rPr sz="1200" b="0">
                <a:solidFill>
                  <a:srgbClr val="666666"/>
                </a:solidFill>
              </a:rPr>
              <a:t>• Hanabi, scaling to N&gt;10, hybrid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16654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5DC1D04D61A94E99EF3D5719243FB9" ma:contentTypeVersion="10" ma:contentTypeDescription="Create a new document." ma:contentTypeScope="" ma:versionID="06fdd9913ec38ea6c536bd43977d9c18">
  <xsd:schema xmlns:xsd="http://www.w3.org/2001/XMLSchema" xmlns:xs="http://www.w3.org/2001/XMLSchema" xmlns:p="http://schemas.microsoft.com/office/2006/metadata/properties" xmlns:ns2="a94b9393-3a63-4fb0-b504-491aeaec59ea" xmlns:ns3="1a06f832-0cff-4cdb-abec-3b86518291bb" targetNamespace="http://schemas.microsoft.com/office/2006/metadata/properties" ma:root="true" ma:fieldsID="2459a7c07bbd612434c6f6a00f280a05" ns2:_="" ns3:_="">
    <xsd:import namespace="a94b9393-3a63-4fb0-b504-491aeaec59ea"/>
    <xsd:import namespace="1a06f832-0cff-4cdb-abec-3b8651829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b9393-3a63-4fb0-b504-491aeaec5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ab900-2ec0-4401-a445-b65711cd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f832-0cff-4cdb-abec-3b86518291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391199-53b5-417f-aaff-abec2eea2f35}" ma:internalName="TaxCatchAll" ma:showField="CatchAllData" ma:web="1a06f832-0cff-4cdb-abec-3b8651829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4b9393-3a63-4fb0-b504-491aeaec59ea">
      <Terms xmlns="http://schemas.microsoft.com/office/infopath/2007/PartnerControls"/>
    </lcf76f155ced4ddcb4097134ff3c332f>
    <TaxCatchAll xmlns="1a06f832-0cff-4cdb-abec-3b86518291bb" xsi:nil="true"/>
  </documentManagement>
</p:properties>
</file>

<file path=customXml/itemProps1.xml><?xml version="1.0" encoding="utf-8"?>
<ds:datastoreItem xmlns:ds="http://schemas.openxmlformats.org/officeDocument/2006/customXml" ds:itemID="{623F0816-2263-4C52-8658-14DE2C029003}"/>
</file>

<file path=customXml/itemProps2.xml><?xml version="1.0" encoding="utf-8"?>
<ds:datastoreItem xmlns:ds="http://schemas.openxmlformats.org/officeDocument/2006/customXml" ds:itemID="{449183F3-593C-4597-A875-D6D1E2043D1B}"/>
</file>

<file path=customXml/itemProps3.xml><?xml version="1.0" encoding="utf-8"?>
<ds:datastoreItem xmlns:ds="http://schemas.openxmlformats.org/officeDocument/2006/customXml" ds:itemID="{BA20DFF8-CB66-40FF-BF90-2A3AD0F5183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14414</TotalTime>
  <Words>230</Words>
  <Application>Microsoft Office PowerPoint</Application>
  <PresentationFormat>Custom</PresentationFormat>
  <Paragraphs>411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Brecheisen</dc:creator>
  <cp:lastModifiedBy>Danala, Gopichandh</cp:lastModifiedBy>
  <cp:revision>349</cp:revision>
  <dcterms:created xsi:type="dcterms:W3CDTF">2019-01-08T21:13:45Z</dcterms:created>
  <dcterms:modified xsi:type="dcterms:W3CDTF">2026-02-03T22:01:58Z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0x0101007F5DC1D04D61A94E99EF3D5719243FB9</vt:lpwstr>
  </property>
  <property fmtid="{D5CDD505-2E9C-101B-9397-08002B2CF9AE}" pid="3" name="MediaServiceImageTags">
    <vt:lpwstr/>
  </property>
</Properties>
</file>
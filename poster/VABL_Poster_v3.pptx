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4" r:id="rId5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 varScale="1">
        <p:scale>
          <a:sx n="48" d="100"/>
          <a:sy n="48" d="100"/>
        </p:scale>
        <p:origin x="46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350AF-D586-8C48-8B3D-AA4F73FEF83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6A7A-D321-6640-9EA0-1894E9CA8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9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86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48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97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465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958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451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944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6D6-9569-5C48-8219-0FA3B276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CF058-28C5-3380-80DC-4C307F5C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CC00D-F941-E9E4-6FF3-7DF30F5A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B13-D1C4-FB3D-C69C-76E36C79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53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BF52406-52E5-454C-9716-52920D4BD16F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42F3CC-AEBB-944F-9D49-E8019AA9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6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03110B6-4410-A64B-85A1-DAADD1A90EB3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883F00-EDD3-374A-A81F-58149472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F2F153-3A0B-4340-BEAE-C0BD7802A699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E7FAFE-0A4E-7D4A-98C9-846A0CADB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EACC0A-02C8-7B42-9E09-37CF32431F1D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C5A204-18E3-484C-9BBB-F99C0E38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9E284F7-E633-674C-A371-8FFD7917B2E9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DB613-214B-E54A-BE14-BF02B586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39F43D-F49E-8D46-8EAF-284030998475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9C09C-BFC4-9145-A3DD-88B4F3FC1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16B761-BE78-6945-9B01-679129FA01FE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23FC65-CFA8-884F-B20E-55612D34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40A55A8-A6DF-BB4D-BA0E-8415A4C1C5D8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B507DC-5D7D-9648-9681-43844D8FE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8C68A7-97CF-C346-80A8-EAFC76805E38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0A42F-D3B8-B94E-B495-7878203CB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D707B06-774F-EC42-9780-80010CCA5BC3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BB2D84-A3D0-1449-B431-D4B1D10B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4DCE887-F616-284F-947F-F7A155E2E11F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6FB661-9772-7047-AE06-904BFDC1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FFE8C666-BE86-664D-80F7-53B268192899}" type="datetime1">
              <a:rPr lang="en-US" smtClean="0"/>
              <a:pPr lvl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B3A5EC8-CE6E-B94F-981A-886CD0377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49FD-FEBD-F933-9E97-54AD794F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D76D8275-7141-6AE1-CC4A-EE2AD5D6DF00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100">
                <a:solidFill>
                  <a:srgbClr val="646464"/>
                </a:solidFill>
              </a:rPr>
              <a:t>Contact: vishnupk@ou.edu  │  github.com/vishnukadiyala/vabl-multi-agent-coordination  │  DISC 2026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2A3D8C-E46C-B98A-AC27-F526FFD6600A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423C5-A5AD-021A-8EE6-E086221214D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217BD0E7-27BF-D36A-2F75-5DFB9D4A7307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3000" b="1" dirty="0">
                <a:solidFill>
                  <a:srgbClr val="FFFFFF"/>
                </a:solidFill>
              </a:rPr>
              <a:t>Learning to Coordinate Without Talking:</a:t>
            </a:r>
          </a:p>
          <a:p>
            <a:pPr algn="ctr"/>
            <a:r>
              <a:rPr sz="2200" dirty="0">
                <a:solidFill>
                  <a:srgbClr val="C8E6C8"/>
                </a:solidFill>
              </a:rPr>
              <a:t>Data-Driven Belief Models for Robust Multi-Agent Coordination</a:t>
            </a:r>
          </a:p>
          <a:p>
            <a:pPr algn="ctr"/>
            <a:r>
              <a:rPr sz="1400" dirty="0">
                <a:solidFill>
                  <a:srgbClr val="C8C8C8"/>
                </a:solidFill>
              </a:rPr>
              <a:t>Vishnu Kadiyala, Mohammed Atiquzzaman — School of Computer Science, University of Oklahoma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AE46C-63EF-2B6D-D4BD-038FB3E6D29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6CC55CE7-BAC4-07C3-CDB4-61B222BC817A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EF44E84-D26C-734E-6812-E5181476652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D709E-47B3-E4B7-B0E8-C23313C6D490}"/>
              </a:ext>
            </a:extLst>
          </p:cNvPr>
          <p:cNvGrpSpPr/>
          <p:nvPr/>
        </p:nvGrpSpPr>
        <p:grpSpPr>
          <a:xfrm>
            <a:off x="650909" y="2987891"/>
            <a:ext cx="1041333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F2BF50F8-3008-5EF5-565A-A037660F9EF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38AA21D-4FFD-1F57-377A-0654E4CFE0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① The Problem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FCEED2-3276-DB35-A36B-3C9BC67AA442}"/>
              </a:ext>
            </a:extLst>
          </p:cNvPr>
          <p:cNvGrpSpPr/>
          <p:nvPr/>
        </p:nvGrpSpPr>
        <p:grpSpPr>
          <a:xfrm>
            <a:off x="11262434" y="2987891"/>
            <a:ext cx="20963895" cy="8734624"/>
            <a:chOff x="650909" y="2987891"/>
            <a:chExt cx="10413331" cy="873462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AAD973E7-88F0-C479-4D53-C9FEBF41C496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B16AD649-830E-04FA-C941-2B9E128B1A5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② How VABL Works — Data-Driven Belief Learning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F1F8B4-1598-8635-601D-A62CE912FD76}"/>
              </a:ext>
            </a:extLst>
          </p:cNvPr>
          <p:cNvGrpSpPr/>
          <p:nvPr/>
        </p:nvGrpSpPr>
        <p:grpSpPr>
          <a:xfrm>
            <a:off x="670707" y="11986632"/>
            <a:ext cx="21005058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9D28CD7-2E60-98DC-0396-DCD2824E64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93413C1D-48A0-8096-870D-102DBF6617C0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③ Evidence: Rigorous Evaluation Across Environments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4706FF-BC15-16D2-6430-AACCA5A148C6}"/>
              </a:ext>
            </a:extLst>
          </p:cNvPr>
          <p:cNvGrpSpPr/>
          <p:nvPr/>
        </p:nvGrpSpPr>
        <p:grpSpPr>
          <a:xfrm>
            <a:off x="21913556" y="11925660"/>
            <a:ext cx="10417031" cy="8795596"/>
            <a:chOff x="670707" y="2926919"/>
            <a:chExt cx="10417031" cy="8795596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56F57B8-3AE3-B432-5B16-CA851E2C0F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65B57A5-586C-ED2F-EA67-C2F03B4A28F7}"/>
                </a:ext>
              </a:extLst>
            </p:cNvPr>
            <p:cNvSpPr/>
            <p:nvPr/>
          </p:nvSpPr>
          <p:spPr>
            <a:xfrm>
              <a:off x="694205" y="2926919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④ Conclusions &amp; Impact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822960" y="3570877"/>
            <a:ext cx="9601200" cy="515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sz="2200" b="1" dirty="0">
              <a:solidFill>
                <a:srgbClr val="003366"/>
              </a:solidFill>
            </a:endParaRPr>
          </a:p>
          <a:p>
            <a:r>
              <a:rPr sz="1600" b="1" dirty="0">
                <a:solidFill>
                  <a:srgbClr val="282828"/>
                </a:solidFill>
              </a:rPr>
              <a:t>Can AI agents learn to work together</a:t>
            </a:r>
          </a:p>
          <a:p>
            <a:r>
              <a:rPr sz="1600" b="1" dirty="0">
                <a:solidFill>
                  <a:srgbClr val="282828"/>
                </a:solidFill>
              </a:rPr>
              <a:t>without talking to each other?</a:t>
            </a:r>
          </a:p>
          <a:p>
            <a:pPr>
              <a:spcAft>
                <a:spcPts val="400"/>
              </a:spcAft>
            </a:pPr>
            <a:endParaRPr sz="1600" b="1" dirty="0">
              <a:solidFill>
                <a:srgbClr val="282828"/>
              </a:solidFill>
            </a:endParaRPr>
          </a:p>
          <a:p>
            <a:r>
              <a:rPr sz="1300" b="0" dirty="0">
                <a:solidFill>
                  <a:srgbClr val="282828"/>
                </a:solidFill>
              </a:rPr>
              <a:t>A QB reads the safety cheat left, sees his receiver</a:t>
            </a:r>
          </a:p>
          <a:p>
            <a:r>
              <a:rPr sz="1300" b="0" dirty="0">
                <a:solidFill>
                  <a:srgbClr val="282828"/>
                </a:solidFill>
              </a:rPr>
              <a:t>break right, and throws — no audible needed. He</a:t>
            </a:r>
          </a:p>
          <a:p>
            <a:r>
              <a:rPr sz="1300" b="0" dirty="0">
                <a:solidFill>
                  <a:srgbClr val="282828"/>
                </a:solidFill>
              </a:rPr>
              <a:t>coordinates by predicting, not communicating.</a:t>
            </a:r>
          </a:p>
          <a:p>
            <a:pPr>
              <a:spcAft>
                <a:spcPts val="400"/>
              </a:spcAft>
            </a:pPr>
            <a:endParaRPr sz="1300" b="0" dirty="0">
              <a:solidFill>
                <a:srgbClr val="282828"/>
              </a:solidFill>
            </a:endParaRPr>
          </a:p>
          <a:p>
            <a:r>
              <a:rPr sz="1300" b="1" dirty="0">
                <a:solidFill>
                  <a:srgbClr val="282828"/>
                </a:solidFill>
              </a:rPr>
              <a:t>Setting: Decentralized POMDPs (Dec-POMDPs) —</a:t>
            </a:r>
          </a:p>
          <a:p>
            <a:r>
              <a:rPr sz="1300" b="0" dirty="0">
                <a:solidFill>
                  <a:srgbClr val="282828"/>
                </a:solidFill>
              </a:rPr>
              <a:t>multiple agents act on partial observations with</a:t>
            </a:r>
          </a:p>
          <a:p>
            <a:r>
              <a:rPr sz="1300" b="0" dirty="0">
                <a:solidFill>
                  <a:srgbClr val="282828"/>
                </a:solidFill>
              </a:rPr>
              <a:t>no shared communication channel.</a:t>
            </a:r>
          </a:p>
          <a:p>
            <a:pPr>
              <a:spcAft>
                <a:spcPts val="400"/>
              </a:spcAft>
            </a:pPr>
            <a:endParaRPr sz="1300" b="0" dirty="0">
              <a:solidFill>
                <a:srgbClr val="282828"/>
              </a:solidFill>
            </a:endParaRPr>
          </a:p>
          <a:p>
            <a:r>
              <a:rPr sz="1400" b="1" dirty="0">
                <a:solidFill>
                  <a:srgbClr val="C0392B"/>
                </a:solidFill>
              </a:rPr>
              <a:t>The hidden problem: Coordination Collapse</a:t>
            </a:r>
          </a:p>
          <a:p>
            <a:r>
              <a:rPr sz="1200" b="0" dirty="0">
                <a:solidFill>
                  <a:srgbClr val="505050"/>
                </a:solidFill>
              </a:rPr>
              <a:t>Agents learn coordination, then catastrophically</a:t>
            </a:r>
          </a:p>
          <a:p>
            <a:r>
              <a:rPr sz="1200" b="0" dirty="0">
                <a:solidFill>
                  <a:srgbClr val="505050"/>
                </a:solidFill>
              </a:rPr>
              <a:t>forget it — like a team that falls apart in the 4th:</a:t>
            </a:r>
          </a:p>
          <a:p>
            <a:r>
              <a:rPr sz="1200" b="0" dirty="0">
                <a:solidFill>
                  <a:srgbClr val="505050"/>
                </a:solidFill>
              </a:rPr>
              <a:t>• MAPPO (PPO + centralized critic): 100% collapse</a:t>
            </a:r>
          </a:p>
          <a:p>
            <a:r>
              <a:rPr sz="1200" b="0" dirty="0">
                <a:solidFill>
                  <a:srgbClr val="505050"/>
                </a:solidFill>
              </a:rPr>
              <a:t>• AERIAL (attention, no aux loss): 100% collapse</a:t>
            </a:r>
          </a:p>
          <a:p>
            <a:r>
              <a:rPr sz="1200" b="0" dirty="0">
                <a:solidFill>
                  <a:srgbClr val="505050"/>
                </a:solidFill>
              </a:rPr>
              <a:t>• </a:t>
            </a:r>
            <a:r>
              <a:rPr sz="1200" b="0" dirty="0" err="1">
                <a:solidFill>
                  <a:srgbClr val="505050"/>
                </a:solidFill>
              </a:rPr>
              <a:t>TarMAC</a:t>
            </a:r>
            <a:r>
              <a:rPr sz="1200" b="0" dirty="0">
                <a:solidFill>
                  <a:srgbClr val="505050"/>
                </a:solidFill>
              </a:rPr>
              <a:t> (explicit communication): 85% collapse</a:t>
            </a:r>
          </a:p>
          <a:p>
            <a:pPr>
              <a:spcAft>
                <a:spcPts val="400"/>
              </a:spcAft>
            </a:pPr>
            <a:endParaRPr sz="1200" b="0" dirty="0">
              <a:solidFill>
                <a:srgbClr val="505050"/>
              </a:solidFill>
            </a:endParaRPr>
          </a:p>
          <a:p>
            <a:r>
              <a:rPr sz="1300" b="1" dirty="0">
                <a:solidFill>
                  <a:srgbClr val="006B3F"/>
                </a:solidFill>
              </a:rPr>
              <a:t>Our solution: VABL — agents build predictive</a:t>
            </a:r>
          </a:p>
          <a:p>
            <a:r>
              <a:rPr sz="1300" b="1" dirty="0">
                <a:solidFill>
                  <a:srgbClr val="006B3F"/>
                </a:solidFill>
              </a:rPr>
              <a:t>belief models of teammates from observable</a:t>
            </a:r>
          </a:p>
          <a:p>
            <a:r>
              <a:rPr sz="1300" b="1" dirty="0">
                <a:solidFill>
                  <a:srgbClr val="006B3F"/>
                </a:solidFill>
              </a:rPr>
              <a:t>actions via attention + auxiliary prediction.</a:t>
            </a:r>
          </a:p>
          <a:p>
            <a:r>
              <a:rPr sz="1300" b="1" dirty="0">
                <a:solidFill>
                  <a:srgbClr val="006B3F"/>
                </a:solidFill>
              </a:rPr>
              <a:t>Only 38% collapse, no communication required.</a:t>
            </a:r>
          </a:p>
        </p:txBody>
      </p:sp>
      <p:pic>
        <p:nvPicPr>
          <p:cNvPr id="84" name="Picture 83" descr="fig_collapse_all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368864"/>
            <a:ext cx="10058400" cy="3152576"/>
          </a:xfrm>
          <a:prstGeom prst="rect">
            <a:avLst/>
          </a:prstGeom>
        </p:spPr>
      </p:pic>
      <p:pic>
        <p:nvPicPr>
          <p:cNvPr id="86" name="Picture 85" descr="fig_architectu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480" y="4017513"/>
            <a:ext cx="10972800" cy="4389120"/>
          </a:xfrm>
          <a:prstGeom prst="rect">
            <a:avLst/>
          </a:prstGeom>
        </p:spPr>
      </p:pic>
      <p:pic>
        <p:nvPicPr>
          <p:cNvPr id="87" name="Picture 86" descr="fig_hero_retain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6938" y="4142670"/>
            <a:ext cx="9693766" cy="546375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1533287" y="8493717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646464"/>
                </a:solidFill>
              </a:rPr>
              <a:t>CTDE paradigm: centralized critic (training), decentralized actors (execution)</a:t>
            </a:r>
          </a:p>
          <a:p>
            <a:pPr>
              <a:spcAft>
                <a:spcPts val="400"/>
              </a:spcAft>
            </a:pPr>
            <a:endParaRPr sz="1200" b="0" dirty="0">
              <a:solidFill>
                <a:srgbClr val="646464"/>
              </a:solidFill>
            </a:endParaRPr>
          </a:p>
          <a:p>
            <a:r>
              <a:rPr sz="1300" b="0" dirty="0">
                <a:solidFill>
                  <a:srgbClr val="505050"/>
                </a:solidFill>
              </a:rPr>
              <a:t>❶ Observe — Encode teammate actions via MLP</a:t>
            </a:r>
          </a:p>
          <a:p>
            <a:r>
              <a:rPr sz="1100" b="0" dirty="0">
                <a:solidFill>
                  <a:srgbClr val="646464"/>
                </a:solidFill>
              </a:rPr>
              <a:t>    (one-hot → </a:t>
            </a:r>
            <a:r>
              <a:rPr sz="1100" b="0" dirty="0" err="1">
                <a:solidFill>
                  <a:srgbClr val="646464"/>
                </a:solidFill>
              </a:rPr>
              <a:t>d_e</a:t>
            </a:r>
            <a:r>
              <a:rPr sz="1100" b="0" dirty="0">
                <a:solidFill>
                  <a:srgbClr val="646464"/>
                </a:solidFill>
              </a:rPr>
              <a:t>=64 embedding per teammate)</a:t>
            </a:r>
          </a:p>
          <a:p>
            <a:r>
              <a:rPr sz="1300" b="0" dirty="0">
                <a:solidFill>
                  <a:srgbClr val="505050"/>
                </a:solidFill>
              </a:rPr>
              <a:t>❷ Attend — Multi-head attention (h=4) over teammate</a:t>
            </a:r>
          </a:p>
          <a:p>
            <a:r>
              <a:rPr sz="1100" b="0" dirty="0">
                <a:solidFill>
                  <a:srgbClr val="646464"/>
                </a:solidFill>
              </a:rPr>
              <a:t>    action embeddings. Query = belief state </a:t>
            </a:r>
            <a:r>
              <a:rPr sz="1100" b="0" dirty="0" err="1">
                <a:solidFill>
                  <a:srgbClr val="646464"/>
                </a:solidFill>
              </a:rPr>
              <a:t>b_t</a:t>
            </a:r>
            <a:r>
              <a:rPr sz="1100" b="0" dirty="0">
                <a:solidFill>
                  <a:srgbClr val="646464"/>
                </a:solidFill>
              </a:rPr>
              <a:t>,</a:t>
            </a:r>
          </a:p>
          <a:p>
            <a:r>
              <a:rPr sz="1100" b="0" dirty="0">
                <a:solidFill>
                  <a:srgbClr val="646464"/>
                </a:solidFill>
              </a:rPr>
              <a:t>    Keys/Values = encoded actions. Produces social</a:t>
            </a:r>
          </a:p>
          <a:p>
            <a:r>
              <a:rPr sz="1100" b="0" dirty="0">
                <a:solidFill>
                  <a:srgbClr val="646464"/>
                </a:solidFill>
              </a:rPr>
              <a:t>    context vector </a:t>
            </a:r>
            <a:r>
              <a:rPr sz="1100" b="0" dirty="0" err="1">
                <a:solidFill>
                  <a:srgbClr val="646464"/>
                </a:solidFill>
              </a:rPr>
              <a:t>c_t</a:t>
            </a:r>
            <a:r>
              <a:rPr sz="1100" b="0" dirty="0">
                <a:solidFill>
                  <a:srgbClr val="646464"/>
                </a:solidFill>
              </a:rPr>
              <a:t> (permutation-invariant).</a:t>
            </a:r>
          </a:p>
          <a:p>
            <a:r>
              <a:rPr sz="1300" b="0" dirty="0">
                <a:solidFill>
                  <a:srgbClr val="505050"/>
                </a:solidFill>
              </a:rPr>
              <a:t>❸ Update — GRU cell: </a:t>
            </a:r>
            <a:r>
              <a:rPr sz="1300" b="0" dirty="0" err="1">
                <a:solidFill>
                  <a:srgbClr val="505050"/>
                </a:solidFill>
              </a:rPr>
              <a:t>b_t</a:t>
            </a:r>
            <a:r>
              <a:rPr sz="1300" b="0" dirty="0">
                <a:solidFill>
                  <a:srgbClr val="505050"/>
                </a:solidFill>
              </a:rPr>
              <a:t> = GRU([</a:t>
            </a:r>
            <a:r>
              <a:rPr sz="1300" b="0" dirty="0" err="1">
                <a:solidFill>
                  <a:srgbClr val="505050"/>
                </a:solidFill>
              </a:rPr>
              <a:t>obs_enc</a:t>
            </a:r>
            <a:r>
              <a:rPr sz="1300" b="0" dirty="0">
                <a:solidFill>
                  <a:srgbClr val="505050"/>
                </a:solidFill>
              </a:rPr>
              <a:t> || </a:t>
            </a:r>
            <a:r>
              <a:rPr sz="1300" b="0" dirty="0" err="1">
                <a:solidFill>
                  <a:srgbClr val="505050"/>
                </a:solidFill>
              </a:rPr>
              <a:t>c_t</a:t>
            </a:r>
            <a:r>
              <a:rPr sz="1300" b="0" dirty="0">
                <a:solidFill>
                  <a:srgbClr val="505050"/>
                </a:solidFill>
              </a:rPr>
              <a:t>], b_{t-1})</a:t>
            </a:r>
          </a:p>
          <a:p>
            <a:r>
              <a:rPr sz="1300" b="0" dirty="0">
                <a:solidFill>
                  <a:srgbClr val="505050"/>
                </a:solidFill>
              </a:rPr>
              <a:t>❹ Predict — Auxiliary MLP predicts teammates' next</a:t>
            </a:r>
          </a:p>
          <a:p>
            <a:r>
              <a:rPr sz="1100" b="0" dirty="0">
                <a:solidFill>
                  <a:srgbClr val="646464"/>
                </a:solidFill>
              </a:rPr>
              <a:t>    actions from </a:t>
            </a:r>
            <a:r>
              <a:rPr sz="1100" b="0" dirty="0" err="1">
                <a:solidFill>
                  <a:srgbClr val="646464"/>
                </a:solidFill>
              </a:rPr>
              <a:t>b_t</a:t>
            </a:r>
            <a:r>
              <a:rPr sz="1100" b="0" dirty="0">
                <a:solidFill>
                  <a:srgbClr val="646464"/>
                </a:solidFill>
              </a:rPr>
              <a:t>. Maximizes variational MI bound</a:t>
            </a:r>
          </a:p>
          <a:p>
            <a:r>
              <a:rPr sz="1100" b="0" dirty="0">
                <a:solidFill>
                  <a:srgbClr val="646464"/>
                </a:solidFill>
              </a:rPr>
              <a:t>    I(</a:t>
            </a:r>
            <a:r>
              <a:rPr sz="1100" b="0" dirty="0" err="1">
                <a:solidFill>
                  <a:srgbClr val="646464"/>
                </a:solidFill>
              </a:rPr>
              <a:t>b_t</a:t>
            </a:r>
            <a:r>
              <a:rPr sz="1100" b="0" dirty="0">
                <a:solidFill>
                  <a:srgbClr val="646464"/>
                </a:solidFill>
              </a:rPr>
              <a:t>; a_{t+1}). Keeps beliefs calibrated.</a:t>
            </a:r>
          </a:p>
          <a:p>
            <a:pPr>
              <a:spcAft>
                <a:spcPts val="400"/>
              </a:spcAft>
            </a:pPr>
            <a:endParaRPr sz="1100" b="0" dirty="0">
              <a:solidFill>
                <a:srgbClr val="646464"/>
              </a:solidFill>
            </a:endParaRPr>
          </a:p>
          <a:p>
            <a:r>
              <a:rPr sz="1200" b="1" dirty="0" err="1">
                <a:solidFill>
                  <a:srgbClr val="282828"/>
                </a:solidFill>
              </a:rPr>
              <a:t>L_total</a:t>
            </a:r>
            <a:r>
              <a:rPr sz="1200" b="1" dirty="0">
                <a:solidFill>
                  <a:srgbClr val="282828"/>
                </a:solidFill>
              </a:rPr>
              <a:t> = L_PPO + 0.05 * </a:t>
            </a:r>
            <a:r>
              <a:rPr sz="1200" b="1" dirty="0" err="1">
                <a:solidFill>
                  <a:srgbClr val="282828"/>
                </a:solidFill>
              </a:rPr>
              <a:t>L_aux_prediction</a:t>
            </a:r>
            <a:endParaRPr sz="1200" b="1" dirty="0">
              <a:solidFill>
                <a:srgbClr val="282828"/>
              </a:solidFill>
            </a:endParaRPr>
          </a:p>
          <a:p>
            <a:r>
              <a:rPr sz="1200" b="0" dirty="0">
                <a:solidFill>
                  <a:srgbClr val="646464"/>
                </a:solidFill>
              </a:rPr>
              <a:t>Aux accuracy: 17% (chance) → 86%. Overhead: &lt;10%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433280" y="9501768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6B3F"/>
                </a:solidFill>
              </a:rPr>
              <a:t>VABL retains 62% of coordination vs 0% (MAPPO/AERIAL) — without any communication channel.</a:t>
            </a:r>
          </a:p>
        </p:txBody>
      </p:sp>
      <p:pic>
        <p:nvPicPr>
          <p:cNvPr id="91" name="Picture 90" descr="fig_variance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36" y="12957506"/>
            <a:ext cx="7132320" cy="5303520"/>
          </a:xfrm>
          <a:prstGeom prst="rect">
            <a:avLst/>
          </a:prstGeom>
        </p:spPr>
      </p:pic>
      <p:pic>
        <p:nvPicPr>
          <p:cNvPr id="92" name="Picture 91" descr="comparison_overcooked_asymmetric_advantages_upda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8174" y="13152394"/>
            <a:ext cx="6160966" cy="5104800"/>
          </a:xfrm>
          <a:prstGeom prst="rect">
            <a:avLst/>
          </a:prstGeom>
        </p:spPr>
      </p:pic>
      <p:pic>
        <p:nvPicPr>
          <p:cNvPr id="93" name="Picture 92" descr="fig_ablation_cramp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49449" y="13267805"/>
            <a:ext cx="5232427" cy="4215011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222195" y="17879056"/>
            <a:ext cx="2057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6B3F"/>
                </a:solidFill>
              </a:rPr>
              <a:t>Fig A: VABL 12× more reliable</a:t>
            </a:r>
          </a:p>
          <a:p>
            <a:r>
              <a:rPr sz="1100" b="0" dirty="0">
                <a:solidFill>
                  <a:srgbClr val="505050"/>
                </a:solidFill>
              </a:rPr>
              <a:t>  across seeds (std 1.7 vs 20.3).</a:t>
            </a:r>
          </a:p>
          <a:p>
            <a:r>
              <a:rPr sz="1200" b="1" dirty="0">
                <a:solidFill>
                  <a:srgbClr val="006B3F"/>
                </a:solidFill>
              </a:rPr>
              <a:t>Fig B: VABL (green) sustains reward;</a:t>
            </a:r>
          </a:p>
          <a:p>
            <a:r>
              <a:rPr sz="1100" b="0" dirty="0">
                <a:solidFill>
                  <a:srgbClr val="505050"/>
                </a:solidFill>
              </a:rPr>
              <a:t>  MAPPO (blue) collapses after ep 200.</a:t>
            </a:r>
          </a:p>
          <a:p>
            <a:r>
              <a:rPr sz="1200" b="1" dirty="0">
                <a:solidFill>
                  <a:srgbClr val="006B3F"/>
                </a:solidFill>
              </a:rPr>
              <a:t>Fig C: Removing components degrades</a:t>
            </a:r>
          </a:p>
          <a:p>
            <a:r>
              <a:rPr sz="1100" b="0" dirty="0">
                <a:solidFill>
                  <a:srgbClr val="505050"/>
                </a:solidFill>
              </a:rPr>
              <a:t>  peak — full VABL is most reliable.</a:t>
            </a:r>
          </a:p>
          <a:p>
            <a:pPr>
              <a:spcAft>
                <a:spcPts val="400"/>
              </a:spcAft>
            </a:pPr>
            <a:endParaRPr sz="1100" b="0" dirty="0">
              <a:solidFill>
                <a:srgbClr val="505050"/>
              </a:solidFill>
            </a:endParaRPr>
          </a:p>
          <a:p>
            <a:r>
              <a:rPr sz="1300" b="1" dirty="0">
                <a:solidFill>
                  <a:srgbClr val="282828"/>
                </a:solidFill>
              </a:rPr>
              <a:t>Summary (5 seeds, 95% CIs):</a:t>
            </a:r>
          </a:p>
          <a:p>
            <a:r>
              <a:rPr sz="1100" b="0" dirty="0">
                <a:solidFill>
                  <a:srgbClr val="505050"/>
                </a:solidFill>
              </a:rPr>
              <a:t>• Overcooked AA: VABL 3.3× MAPPO final reward, 38% vs 76% collapse</a:t>
            </a:r>
          </a:p>
          <a:p>
            <a:r>
              <a:rPr sz="1100" b="0" dirty="0">
                <a:solidFill>
                  <a:srgbClr val="505050"/>
                </a:solidFill>
              </a:rPr>
              <a:t>• 5-agent Simple Coord: Best 95.7±3.3 vs MAPPO 84.0±10.4</a:t>
            </a:r>
          </a:p>
          <a:p>
            <a:r>
              <a:rPr sz="1100" b="0" dirty="0">
                <a:solidFill>
                  <a:srgbClr val="505050"/>
                </a:solidFill>
              </a:rPr>
              <a:t>• Cramped Room: Full VABL Best 1030±70 (lowest variance)</a:t>
            </a:r>
          </a:p>
          <a:p>
            <a:r>
              <a:rPr sz="1100" b="0" dirty="0">
                <a:solidFill>
                  <a:srgbClr val="505050"/>
                </a:solidFill>
              </a:rPr>
              <a:t>• 10M steps: MAPPO &amp; AERIAL collapse to 0; </a:t>
            </a:r>
            <a:r>
              <a:rPr sz="1100" b="0" dirty="0" err="1">
                <a:solidFill>
                  <a:srgbClr val="505050"/>
                </a:solidFill>
              </a:rPr>
              <a:t>TarMAC</a:t>
            </a:r>
            <a:r>
              <a:rPr sz="1100" b="0" dirty="0">
                <a:solidFill>
                  <a:srgbClr val="505050"/>
                </a:solidFill>
              </a:rPr>
              <a:t> to 54</a:t>
            </a:r>
          </a:p>
          <a:p>
            <a:r>
              <a:rPr sz="1000" b="0" dirty="0">
                <a:solidFill>
                  <a:srgbClr val="646464"/>
                </a:solidFill>
              </a:rPr>
              <a:t>Environments: Overcooked-AI (2 agents), Simple Coordination (3-5 agents, stochastic visibility)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564477" y="13106801"/>
            <a:ext cx="9601200" cy="588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sz="2200" b="1" dirty="0">
              <a:solidFill>
                <a:srgbClr val="003366"/>
              </a:solidFill>
            </a:endParaRPr>
          </a:p>
          <a:p>
            <a:r>
              <a:rPr sz="1600" b="1" dirty="0">
                <a:solidFill>
                  <a:srgbClr val="006B3F"/>
                </a:solidFill>
              </a:rPr>
              <a:t>Key Insight</a:t>
            </a:r>
          </a:p>
          <a:p>
            <a:r>
              <a:rPr sz="1400" b="0" dirty="0">
                <a:solidFill>
                  <a:srgbClr val="282828"/>
                </a:solidFill>
              </a:rPr>
              <a:t>Every method discovers coordination.</a:t>
            </a:r>
          </a:p>
          <a:p>
            <a:r>
              <a:rPr sz="1400" b="1" dirty="0">
                <a:solidFill>
                  <a:srgbClr val="282828"/>
                </a:solidFill>
              </a:rPr>
              <a:t>The challenge is keeping it.</a:t>
            </a:r>
          </a:p>
          <a:p>
            <a:r>
              <a:rPr sz="1400" b="0" dirty="0">
                <a:solidFill>
                  <a:srgbClr val="282828"/>
                </a:solidFill>
              </a:rPr>
              <a:t>VABL’s prediction loss prevents belief drift,</a:t>
            </a:r>
          </a:p>
          <a:p>
            <a:r>
              <a:rPr sz="1400" b="0" dirty="0">
                <a:solidFill>
                  <a:srgbClr val="282828"/>
                </a:solidFill>
              </a:rPr>
              <a:t>sustaining coordination without communication.</a:t>
            </a:r>
          </a:p>
          <a:p>
            <a:pPr>
              <a:spcAft>
                <a:spcPts val="400"/>
              </a:spcAft>
            </a:pPr>
            <a:endParaRPr sz="1400" b="0" dirty="0">
              <a:solidFill>
                <a:srgbClr val="282828"/>
              </a:solidFill>
            </a:endParaRPr>
          </a:p>
          <a:p>
            <a:r>
              <a:rPr sz="1600" b="1" dirty="0">
                <a:solidFill>
                  <a:srgbClr val="003366"/>
                </a:solidFill>
              </a:rPr>
              <a:t>Data Science Contributions</a:t>
            </a:r>
          </a:p>
          <a:p>
            <a:r>
              <a:rPr sz="1200" b="0" dirty="0">
                <a:solidFill>
                  <a:srgbClr val="505050"/>
                </a:solidFill>
              </a:rPr>
              <a:t>• Prediction from behavioral time-series: each agent</a:t>
            </a:r>
          </a:p>
          <a:p>
            <a:r>
              <a:rPr sz="1200" b="0" dirty="0">
                <a:solidFill>
                  <a:srgbClr val="505050"/>
                </a:solidFill>
              </a:rPr>
              <a:t>  processes sequential teammate action data to build</a:t>
            </a:r>
          </a:p>
          <a:p>
            <a:r>
              <a:rPr sz="1200" b="0" dirty="0">
                <a:solidFill>
                  <a:srgbClr val="505050"/>
                </a:solidFill>
              </a:rPr>
              <a:t>  a real-time predictive model (86% accuracy)</a:t>
            </a:r>
          </a:p>
          <a:p>
            <a:r>
              <a:rPr sz="1200" b="0" dirty="0">
                <a:solidFill>
                  <a:srgbClr val="505050"/>
                </a:solidFill>
              </a:rPr>
              <a:t>• Self-supervised regularization: auxiliary prediction</a:t>
            </a:r>
          </a:p>
          <a:p>
            <a:r>
              <a:rPr sz="1200" b="0" dirty="0">
                <a:solidFill>
                  <a:srgbClr val="505050"/>
                </a:solidFill>
              </a:rPr>
              <a:t>  task calibrates learned representations, preventing</a:t>
            </a:r>
          </a:p>
          <a:p>
            <a:r>
              <a:rPr sz="1200" b="0" dirty="0">
                <a:solidFill>
                  <a:srgbClr val="505050"/>
                </a:solidFill>
              </a:rPr>
              <a:t>  catastrophic forgetting (2.3× variance reduction)</a:t>
            </a:r>
          </a:p>
          <a:p>
            <a:r>
              <a:rPr sz="1200" b="0" dirty="0">
                <a:solidFill>
                  <a:srgbClr val="505050"/>
                </a:solidFill>
              </a:rPr>
              <a:t>• Rigorous evaluation: 5 seeds, ablation studies,</a:t>
            </a:r>
          </a:p>
          <a:p>
            <a:r>
              <a:rPr sz="1200" b="0" dirty="0">
                <a:solidFill>
                  <a:srgbClr val="505050"/>
                </a:solidFill>
              </a:rPr>
              <a:t>  4 baselines, 3 environments, 10M-step extended runs</a:t>
            </a:r>
          </a:p>
          <a:p>
            <a:pPr>
              <a:spcAft>
                <a:spcPts val="400"/>
              </a:spcAft>
            </a:pPr>
            <a:endParaRPr sz="1200" b="0" dirty="0">
              <a:solidFill>
                <a:srgbClr val="505050"/>
              </a:solidFill>
            </a:endParaRPr>
          </a:p>
          <a:p>
            <a:r>
              <a:rPr sz="1600" b="1" dirty="0">
                <a:solidFill>
                  <a:srgbClr val="003366"/>
                </a:solidFill>
              </a:rPr>
              <a:t>Real-World Applications</a:t>
            </a:r>
          </a:p>
          <a:p>
            <a:r>
              <a:rPr sz="1300" b="0" dirty="0">
                <a:solidFill>
                  <a:srgbClr val="505050"/>
                </a:solidFill>
              </a:rPr>
              <a:t>• Warehouse robot fleets (comm. blackouts)</a:t>
            </a:r>
          </a:p>
          <a:p>
            <a:r>
              <a:rPr sz="1300" b="0" dirty="0">
                <a:solidFill>
                  <a:srgbClr val="505050"/>
                </a:solidFill>
              </a:rPr>
              <a:t>• Autonomous vehicle coordination</a:t>
            </a:r>
          </a:p>
          <a:p>
            <a:r>
              <a:rPr sz="1300" b="0" dirty="0">
                <a:solidFill>
                  <a:srgbClr val="505050"/>
                </a:solidFill>
              </a:rPr>
              <a:t>• Disaster response drone swarms</a:t>
            </a:r>
          </a:p>
          <a:p>
            <a:r>
              <a:rPr sz="1300" b="0" dirty="0">
                <a:solidFill>
                  <a:srgbClr val="505050"/>
                </a:solidFill>
              </a:rPr>
              <a:t>• Collaborative surgical robotics</a:t>
            </a:r>
          </a:p>
          <a:p>
            <a:pPr>
              <a:spcAft>
                <a:spcPts val="400"/>
              </a:spcAft>
            </a:pPr>
            <a:endParaRPr sz="1300" b="0" dirty="0">
              <a:solidFill>
                <a:srgbClr val="505050"/>
              </a:solidFill>
            </a:endParaRPr>
          </a:p>
          <a:p>
            <a:r>
              <a:rPr sz="1400" b="1" dirty="0">
                <a:solidFill>
                  <a:srgbClr val="003366"/>
                </a:solidFill>
              </a:rPr>
              <a:t>Future Work</a:t>
            </a:r>
          </a:p>
          <a:p>
            <a:r>
              <a:rPr sz="1200" b="0" dirty="0">
                <a:solidFill>
                  <a:srgbClr val="646464"/>
                </a:solidFill>
              </a:rPr>
              <a:t>• Hanabi evaluation (card-game partial observability)</a:t>
            </a:r>
          </a:p>
          <a:p>
            <a:r>
              <a:rPr sz="1200" b="0" dirty="0">
                <a:solidFill>
                  <a:srgbClr val="646464"/>
                </a:solidFill>
              </a:rPr>
              <a:t>• Scaling to N&gt;10 agents with sparse attention</a:t>
            </a:r>
          </a:p>
          <a:p>
            <a:r>
              <a:rPr sz="1200" b="0" dirty="0">
                <a:solidFill>
                  <a:srgbClr val="646464"/>
                </a:solidFill>
              </a:rPr>
              <a:t>• Hybrid implicit + explicit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6654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b9393-3a63-4fb0-b504-491aeaec59ea">
      <Terms xmlns="http://schemas.microsoft.com/office/infopath/2007/PartnerControls"/>
    </lcf76f155ced4ddcb4097134ff3c332f>
    <TaxCatchAll xmlns="1a06f832-0cff-4cdb-abec-3b86518291b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5DC1D04D61A94E99EF3D5719243FB9" ma:contentTypeVersion="10" ma:contentTypeDescription="Create a new document." ma:contentTypeScope="" ma:versionID="06fdd9913ec38ea6c536bd43977d9c18">
  <xsd:schema xmlns:xsd="http://www.w3.org/2001/XMLSchema" xmlns:xs="http://www.w3.org/2001/XMLSchema" xmlns:p="http://schemas.microsoft.com/office/2006/metadata/properties" xmlns:ns2="a94b9393-3a63-4fb0-b504-491aeaec59ea" xmlns:ns3="1a06f832-0cff-4cdb-abec-3b86518291bb" targetNamespace="http://schemas.microsoft.com/office/2006/metadata/properties" ma:root="true" ma:fieldsID="2459a7c07bbd612434c6f6a00f280a05" ns2:_="" ns3:_="">
    <xsd:import namespace="a94b9393-3a63-4fb0-b504-491aeaec59ea"/>
    <xsd:import namespace="1a06f832-0cff-4cdb-abec-3b8651829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b9393-3a63-4fb0-b504-491aeaec5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ab900-2ec0-4401-a445-b65711cd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f832-0cff-4cdb-abec-3b86518291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391199-53b5-417f-aaff-abec2eea2f35}" ma:internalName="TaxCatchAll" ma:showField="CatchAllData" ma:web="1a06f832-0cff-4cdb-abec-3b8651829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20DFF8-CB66-40FF-BF90-2A3AD0F51832}">
  <ds:schemaRefs>
    <ds:schemaRef ds:uri="http://schemas.microsoft.com/office/2006/metadata/properties"/>
    <ds:schemaRef ds:uri="http://schemas.microsoft.com/office/infopath/2007/PartnerControls"/>
    <ds:schemaRef ds:uri="a94b9393-3a63-4fb0-b504-491aeaec59ea"/>
    <ds:schemaRef ds:uri="1a06f832-0cff-4cdb-abec-3b86518291bb"/>
  </ds:schemaRefs>
</ds:datastoreItem>
</file>

<file path=customXml/itemProps2.xml><?xml version="1.0" encoding="utf-8"?>
<ds:datastoreItem xmlns:ds="http://schemas.openxmlformats.org/officeDocument/2006/customXml" ds:itemID="{449183F3-593C-4597-A875-D6D1E2043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3F0816-2263-4C52-8658-14DE2C0290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4b9393-3a63-4fb0-b504-491aeaec59ea"/>
    <ds:schemaRef ds:uri="1a06f832-0cff-4cdb-abec-3b86518291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14419</TotalTime>
  <Words>691</Words>
  <Application>Microsoft Office PowerPoint</Application>
  <PresentationFormat>Custom</PresentationFormat>
  <Paragraphs>159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Brecheisen</dc:creator>
  <cp:lastModifiedBy>Kadiyala, Vishnu P.</cp:lastModifiedBy>
  <cp:revision>350</cp:revision>
  <dcterms:created xsi:type="dcterms:W3CDTF">2019-01-08T21:13:45Z</dcterms:created>
  <dcterms:modified xsi:type="dcterms:W3CDTF">2026-03-31T05:08:55Z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0x0101007F5DC1D04D61A94E99EF3D5719243FB9</vt:lpwstr>
  </property>
  <property fmtid="{D5CDD505-2E9C-101B-9397-08002B2CF9AE}" pid="3" name="MediaServiceImageTags">
    <vt:lpwstr/>
  </property>
</Properties>
</file>
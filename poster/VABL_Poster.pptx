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64" r:id="rId5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/>
    <p:restoredTop sz="94658"/>
  </p:normalViewPr>
  <p:slideViewPr>
    <p:cSldViewPr snapToGrid="0">
      <p:cViewPr>
        <p:scale>
          <a:sx n="33" d="100"/>
          <a:sy n="33" d="100"/>
        </p:scale>
        <p:origin x="192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customXml" Target="../customXml/item1.xml"/><Relationship Id="rId13" Type="http://schemas.openxmlformats.org/officeDocument/2006/relationships/customXml" Target="../customXml/item2.xml"/><Relationship Id="rId14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350AF-D586-8C48-8B3D-AA4F73FEF83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36A7A-D321-6640-9EA0-1894E9CA8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1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49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2986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48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597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465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8958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451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1944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56D6-9569-5C48-8219-0FA3B276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CF058-28C5-3380-80DC-4C307F5C7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CC00D-F941-E9E4-6FF3-7DF30F5A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1AB13-D1C4-FB3D-C69C-76E36C792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533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BF52406-52E5-454C-9716-52920D4BD16F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42F3CC-AEBB-944F-9D49-E8019AA9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65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03110B6-4410-A64B-85A1-DAADD1A90EB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883F00-EDD3-374A-A81F-58149472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7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8F2F153-3A0B-4340-BEAE-C0BD7802A69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E7FAFE-0A4E-7D4A-98C9-846A0CADB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EACC0A-02C8-7B42-9E09-37CF32431F1D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C5A204-18E3-484C-9BBB-F99C0E38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9E284F7-E633-674C-A371-8FFD7917B2E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BDB613-214B-E54A-BE14-BF02B586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1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E39F43D-F49E-8D46-8EAF-284030998475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89C09C-BFC4-9145-A3DD-88B4F3FC1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16B761-BE78-6945-9B01-679129FA01FE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23FC65-CFA8-884F-B20E-55612D34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40A55A8-A6DF-BB4D-BA0E-8415A4C1C5D8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B507DC-5D7D-9648-9681-43844D8FE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8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F8C68A7-97CF-C346-80A8-EAFC76805E38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B0A42F-D3B8-B94E-B495-7878203CB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0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D707B06-774F-EC42-9780-80010CCA5BC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BB2D84-A3D0-1449-B431-D4B1D10B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3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4DCE887-F616-284F-947F-F7A155E2E11F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6FB661-9772-7047-AE06-904BFDC1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941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FFE8C666-BE86-664D-80F7-53B26819289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CB3A5EC8-CE6E-B94F-981A-886CD0377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2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49FD-FEBD-F933-9E97-54AD794F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D76D8275-7141-6AE1-CC4A-EE2AD5D6DF00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1200">
                <a:solidFill>
                  <a:srgbClr val="646464"/>
                </a:solidFill>
              </a:rPr>
              <a:t>Contact: vishnupk@ou.edu  |  github.com/vishnukadiyala/vabl-multi-agent-coordination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2A3D8C-E46C-B98A-AC27-F526FFD6600A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3423C5-A5AD-021A-8EE6-E086221214D4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217BD0E7-27BF-D36A-2F75-5DFB9D4A7307}"/>
              </a:ext>
            </a:extLst>
          </p:cNvPr>
          <p:cNvSpPr/>
          <p:nvPr/>
        </p:nvSpPr>
        <p:spPr>
          <a:xfrm>
            <a:off x="9348174" y="380411"/>
            <a:ext cx="14222052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800" b="1">
                <a:solidFill>
                  <a:srgbClr val="FFFFFF"/>
                </a:solidFill>
              </a:rPr>
              <a:t>Implicit Coordination via Attention-Driven Latent Belief Representations</a:t>
            </a:r>
          </a:p>
          <a:p>
            <a:pPr algn="ctr"/>
            <a:r>
              <a:rPr sz="1600">
                <a:solidFill>
                  <a:srgbClr val="DCDCDC"/>
                </a:solidFill>
              </a:rPr>
              <a:t>Vishnu Kadiyala, Mohammed Atiquzzaman — School of Computer Science, University of Oklahoma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FAE46C-63EF-2B6D-D4BD-038FB3E6D296}"/>
              </a:ext>
            </a:extLst>
          </p:cNvPr>
          <p:cNvGrpSpPr/>
          <p:nvPr/>
        </p:nvGrpSpPr>
        <p:grpSpPr>
          <a:xfrm>
            <a:off x="29161366" y="573478"/>
            <a:ext cx="3064963" cy="2018173"/>
            <a:chOff x="38586497" y="846117"/>
            <a:chExt cx="4597445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6CC55CE7-BAC4-07C3-CDB4-61B222BC817A}"/>
                </a:ext>
              </a:extLst>
            </p:cNvPr>
            <p:cNvSpPr/>
            <p:nvPr/>
          </p:nvSpPr>
          <p:spPr>
            <a:xfrm>
              <a:off x="38586497" y="2950047"/>
              <a:ext cx="4597445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###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0EF44E84-D26C-734E-6812-E51814766526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sp>
        <p:nvSpPr>
          <p:cNvPr id="34" name="Rectangle 57">
            <a:extLst>
              <a:ext uri="{FF2B5EF4-FFF2-40B4-BE49-F238E27FC236}">
                <a16:creationId xmlns:a16="http://schemas.microsoft.com/office/drawing/2014/main" id="{7BF7717F-9001-A47F-680A-A73564EEA234}"/>
              </a:ext>
            </a:extLst>
          </p:cNvPr>
          <p:cNvSpPr/>
          <p:nvPr/>
        </p:nvSpPr>
        <p:spPr>
          <a:xfrm>
            <a:off x="402319" y="380411"/>
            <a:ext cx="2201241" cy="1831912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400" b="1">
                <a:solidFill>
                  <a:srgbClr val="FFFFFF"/>
                </a:solidFill>
              </a:rPr>
              <a:t>OU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D709E-47B3-E4B7-B0E8-C23313C6D490}"/>
              </a:ext>
            </a:extLst>
          </p:cNvPr>
          <p:cNvGrpSpPr/>
          <p:nvPr/>
        </p:nvGrpSpPr>
        <p:grpSpPr>
          <a:xfrm>
            <a:off x="650909" y="2987891"/>
            <a:ext cx="10413331" cy="8734624"/>
            <a:chOff x="650909" y="2987891"/>
            <a:chExt cx="10413331" cy="8734624"/>
          </a:xfrm>
        </p:grpSpPr>
        <p:sp>
          <p:nvSpPr>
            <p:cNvPr id="2" name="TextBox 14">
              <a:extLst>
                <a:ext uri="{FF2B5EF4-FFF2-40B4-BE49-F238E27FC236}">
                  <a16:creationId xmlns:a16="http://schemas.microsoft.com/office/drawing/2014/main" id="{F2BF50F8-3008-5EF5-565A-A037660F9EF4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" name="Rounded Rectangle 15">
              <a:extLst>
                <a:ext uri="{FF2B5EF4-FFF2-40B4-BE49-F238E27FC236}">
                  <a16:creationId xmlns:a16="http://schemas.microsoft.com/office/drawing/2014/main" id="{038AA21D-4FFD-1F57-377A-0654E4CFE044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FCEED2-3276-DB35-A36B-3C9BC67AA442}"/>
              </a:ext>
            </a:extLst>
          </p:cNvPr>
          <p:cNvGrpSpPr/>
          <p:nvPr/>
        </p:nvGrpSpPr>
        <p:grpSpPr>
          <a:xfrm>
            <a:off x="11262434" y="2987891"/>
            <a:ext cx="20963895" cy="8734624"/>
            <a:chOff x="650909" y="2987891"/>
            <a:chExt cx="10413331" cy="8734624"/>
          </a:xfrm>
        </p:grpSpPr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AAD973E7-88F0-C479-4D53-C9FEBF41C496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28" name="Rounded Rectangle 15">
              <a:extLst>
                <a:ext uri="{FF2B5EF4-FFF2-40B4-BE49-F238E27FC236}">
                  <a16:creationId xmlns:a16="http://schemas.microsoft.com/office/drawing/2014/main" id="{B16AD649-830E-04FA-C941-2B9E128B1A5B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F1F8B4-1598-8635-601D-A62CE912FD76}"/>
              </a:ext>
            </a:extLst>
          </p:cNvPr>
          <p:cNvGrpSpPr/>
          <p:nvPr/>
        </p:nvGrpSpPr>
        <p:grpSpPr>
          <a:xfrm>
            <a:off x="670707" y="11986632"/>
            <a:ext cx="10413331" cy="8734624"/>
            <a:chOff x="650909" y="2987891"/>
            <a:chExt cx="10413331" cy="8734624"/>
          </a:xfrm>
        </p:grpSpPr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C9D28CD7-2E60-98DC-0396-DCD2824E64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5" name="Rounded Rectangle 15">
              <a:extLst>
                <a:ext uri="{FF2B5EF4-FFF2-40B4-BE49-F238E27FC236}">
                  <a16:creationId xmlns:a16="http://schemas.microsoft.com/office/drawing/2014/main" id="{93413C1D-48A0-8096-870D-102DBF6617C0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3842B7-68E1-E7B1-B1B9-B4AD4E884D4F}"/>
              </a:ext>
            </a:extLst>
          </p:cNvPr>
          <p:cNvGrpSpPr/>
          <p:nvPr/>
        </p:nvGrpSpPr>
        <p:grpSpPr>
          <a:xfrm>
            <a:off x="11282232" y="11986632"/>
            <a:ext cx="10413331" cy="8734624"/>
            <a:chOff x="650909" y="2987891"/>
            <a:chExt cx="10413331" cy="8734624"/>
          </a:xfrm>
        </p:grpSpPr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7772EC3D-1388-91F3-B79A-4860F1BE677F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A4F942D2-2122-B617-CAB7-77376E729975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4706FF-BC15-16D2-6430-AACCA5A148C6}"/>
              </a:ext>
            </a:extLst>
          </p:cNvPr>
          <p:cNvGrpSpPr/>
          <p:nvPr/>
        </p:nvGrpSpPr>
        <p:grpSpPr>
          <a:xfrm>
            <a:off x="21893758" y="11986632"/>
            <a:ext cx="10413331" cy="8734624"/>
            <a:chOff x="650909" y="2987891"/>
            <a:chExt cx="10413331" cy="8734624"/>
          </a:xfrm>
        </p:grpSpPr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856F57B8-3AE3-B432-5B16-CA851E2C0F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65B57A5-586C-ED2F-EA67-C2F03B4A28F7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914400" y="3200400"/>
            <a:ext cx="9601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The Problem: Coordination Collapse</a:t>
            </a:r>
          </a:p>
          <a:p>
            <a:pPr>
              <a:spcAft>
                <a:spcPts val="400"/>
              </a:spcAft>
            </a:pPr>
          </a:p>
          <a:p>
            <a:r>
              <a:rPr sz="1500" b="0">
                <a:solidFill>
                  <a:srgbClr val="282828"/>
                </a:solidFill>
              </a:rPr>
              <a:t>Multi-agent coordination under partial observability</a:t>
            </a:r>
          </a:p>
          <a:p>
            <a:r>
              <a:rPr sz="1500" b="0">
                <a:solidFill>
                  <a:srgbClr val="282828"/>
                </a:solidFill>
              </a:rPr>
              <a:t>requires reasoning about teammate intent. Standard</a:t>
            </a:r>
          </a:p>
          <a:p>
            <a:r>
              <a:rPr sz="1500" b="0">
                <a:solidFill>
                  <a:srgbClr val="282828"/>
                </a:solidFill>
              </a:rPr>
              <a:t>methods use egocentric memory that fails to model</a:t>
            </a:r>
          </a:p>
          <a:p>
            <a:r>
              <a:rPr sz="1500" b="0">
                <a:solidFill>
                  <a:srgbClr val="282828"/>
                </a:solidFill>
              </a:rPr>
              <a:t>teammate behavior, leading to coordination collapse.</a:t>
            </a:r>
          </a:p>
          <a:p>
            <a:pPr>
              <a:spcAft>
                <a:spcPts val="400"/>
              </a:spcAft>
            </a:pPr>
          </a:p>
          <a:p>
            <a:r>
              <a:rPr sz="1600" b="1">
                <a:solidFill>
                  <a:srgbClr val="282828"/>
                </a:solidFill>
              </a:rPr>
              <a:t>The collapse phenomenon:</a:t>
            </a:r>
          </a:p>
          <a:p>
            <a:r>
              <a:rPr sz="1400" b="0">
                <a:solidFill>
                  <a:srgbClr val="505050"/>
                </a:solidFill>
              </a:rPr>
              <a:t>• Agents discover coordination but cannot sustain it</a:t>
            </a:r>
          </a:p>
          <a:p>
            <a:r>
              <a:rPr sz="1400" b="0">
                <a:solidFill>
                  <a:srgbClr val="505050"/>
                </a:solidFill>
              </a:rPr>
              <a:t>• MAPPO: 100% collapse at 10M steps (peak 503, final 0)</a:t>
            </a:r>
          </a:p>
          <a:p>
            <a:r>
              <a:rPr sz="1400" b="0">
                <a:solidFill>
                  <a:srgbClr val="505050"/>
                </a:solidFill>
              </a:rPr>
              <a:t>• AERIAL (Phan et al., 2023): also 100% collapse</a:t>
            </a:r>
          </a:p>
          <a:p>
            <a:r>
              <a:rPr sz="1400" b="0">
                <a:solidFill>
                  <a:srgbClr val="505050"/>
                </a:solidFill>
              </a:rPr>
              <a:t>• TarMAC (communication): 85% collapse (final ~54)</a:t>
            </a:r>
          </a:p>
          <a:p>
            <a:pPr>
              <a:spcAft>
                <a:spcPts val="400"/>
              </a:spcAft>
            </a:pPr>
          </a:p>
          <a:p>
            <a:r>
              <a:rPr sz="1600" b="1">
                <a:solidFill>
                  <a:srgbClr val="006400"/>
                </a:solidFill>
              </a:rPr>
              <a:t>Our answer: VABL</a:t>
            </a:r>
          </a:p>
          <a:p>
            <a:r>
              <a:rPr sz="1500" b="0">
                <a:solidFill>
                  <a:srgbClr val="282828"/>
                </a:solidFill>
              </a:rPr>
              <a:t>Attention over teammate actions + auxiliary</a:t>
            </a:r>
          </a:p>
          <a:p>
            <a:r>
              <a:rPr sz="1500" b="0">
                <a:solidFill>
                  <a:srgbClr val="282828"/>
                </a:solidFill>
              </a:rPr>
              <a:t>prediction loss = stable implicit coordination</a:t>
            </a:r>
          </a:p>
          <a:p>
            <a:r>
              <a:rPr sz="1500" b="1">
                <a:solidFill>
                  <a:srgbClr val="282828"/>
                </a:solidFill>
              </a:rPr>
              <a:t>without any communication channel.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521440" y="3200400"/>
            <a:ext cx="2011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Architecture &amp; Main Results</a:t>
            </a:r>
          </a:p>
        </p:txBody>
      </p:sp>
      <p:pic>
        <p:nvPicPr>
          <p:cNvPr id="85" name="Picture 84" descr="fi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0" y="3840480"/>
            <a:ext cx="9875520" cy="3931920"/>
          </a:xfrm>
          <a:prstGeom prst="rect">
            <a:avLst/>
          </a:prstGeom>
        </p:spPr>
      </p:pic>
      <p:pic>
        <p:nvPicPr>
          <p:cNvPr id="86" name="Picture 85" descr="fig_collapse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0" y="3840480"/>
            <a:ext cx="10058400" cy="393192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1521440" y="8046720"/>
            <a:ext cx="2011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6400"/>
                </a:solidFill>
              </a:rPr>
              <a:t>3.3× higher reward than MAPPO on Overcooked  │  12× lower variance  │  38% collapse vs 100% (MAPPO/AERIAL)</a:t>
            </a:r>
          </a:p>
          <a:p>
            <a:pPr>
              <a:spcAft>
                <a:spcPts val="400"/>
              </a:spcAft>
            </a:pPr>
          </a:p>
          <a:p>
            <a:r>
              <a:rPr sz="1400" b="0">
                <a:solidFill>
                  <a:srgbClr val="505050"/>
                </a:solidFill>
              </a:rPr>
              <a:t>VABL trades ~48% of TarMAC’s reward for eliminating communication — favorable when bandwidth is constrained.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" y="12161520"/>
            <a:ext cx="9601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How VABL Works</a:t>
            </a:r>
          </a:p>
          <a:p>
            <a:pPr>
              <a:spcAft>
                <a:spcPts val="400"/>
              </a:spcAft>
            </a:pPr>
          </a:p>
          <a:p>
            <a:r>
              <a:rPr sz="1500" b="0">
                <a:solidFill>
                  <a:srgbClr val="282828"/>
                </a:solidFill>
              </a:rPr>
              <a:t>Each agent maintains a belief state updated by:</a:t>
            </a:r>
          </a:p>
          <a:p>
            <a:pPr>
              <a:spcAft>
                <a:spcPts val="400"/>
              </a:spcAft>
            </a:pPr>
          </a:p>
          <a:p>
            <a:r>
              <a:rPr sz="1600" b="1">
                <a:solidFill>
                  <a:srgbClr val="282828"/>
                </a:solidFill>
              </a:rPr>
              <a:t>1. Attention over Teammate Actions</a:t>
            </a:r>
          </a:p>
          <a:p>
            <a:r>
              <a:rPr sz="1400" b="0">
                <a:solidFill>
                  <a:srgbClr val="505050"/>
                </a:solidFill>
              </a:rPr>
              <a:t>   Multi-head attention aggregates visible teammate</a:t>
            </a:r>
          </a:p>
          <a:p>
            <a:r>
              <a:rPr sz="1400" b="0">
                <a:solidFill>
                  <a:srgbClr val="505050"/>
                </a:solidFill>
              </a:rPr>
              <a:t>   actions. Query = belief, Keys/Values = actions.</a:t>
            </a:r>
          </a:p>
          <a:p>
            <a:pPr>
              <a:spcAft>
                <a:spcPts val="400"/>
              </a:spcAft>
            </a:pPr>
          </a:p>
          <a:p>
            <a:r>
              <a:rPr sz="1600" b="1">
                <a:solidFill>
                  <a:srgbClr val="282828"/>
                </a:solidFill>
              </a:rPr>
              <a:t>2. GRU Belief Update</a:t>
            </a:r>
          </a:p>
          <a:p>
            <a:r>
              <a:rPr sz="1400" b="0">
                <a:solidFill>
                  <a:srgbClr val="505050"/>
                </a:solidFill>
              </a:rPr>
              <a:t>   Observation encoding + attention context feed</a:t>
            </a:r>
          </a:p>
          <a:p>
            <a:r>
              <a:rPr sz="1400" b="0">
                <a:solidFill>
                  <a:srgbClr val="505050"/>
                </a:solidFill>
              </a:rPr>
              <a:t>   into recurrent belief state.</a:t>
            </a:r>
          </a:p>
          <a:p>
            <a:pPr>
              <a:spcAft>
                <a:spcPts val="400"/>
              </a:spcAft>
            </a:pPr>
          </a:p>
          <a:p>
            <a:r>
              <a:rPr sz="1600" b="1">
                <a:solidFill>
                  <a:srgbClr val="282828"/>
                </a:solidFill>
              </a:rPr>
              <a:t>3. Auxiliary Prediction (Theory of Mind)</a:t>
            </a:r>
          </a:p>
          <a:p>
            <a:r>
              <a:rPr sz="1400" b="0">
                <a:solidFill>
                  <a:srgbClr val="505050"/>
                </a:solidFill>
              </a:rPr>
              <a:t>   Predicts teammates’ next actions from belief.</a:t>
            </a:r>
          </a:p>
          <a:p>
            <a:r>
              <a:rPr sz="1400" b="0">
                <a:solidFill>
                  <a:srgbClr val="505050"/>
                </a:solidFill>
              </a:rPr>
              <a:t>   Regularizes beliefs, preventing collapse.</a:t>
            </a:r>
          </a:p>
          <a:p>
            <a:r>
              <a:rPr sz="1400" b="0">
                <a:solidFill>
                  <a:srgbClr val="505050"/>
                </a:solidFill>
              </a:rPr>
              <a:t>   Accuracy: 17% (chance) → 86% during training.</a:t>
            </a:r>
          </a:p>
          <a:p>
            <a:pPr>
              <a:spcAft>
                <a:spcPts val="400"/>
              </a:spcAft>
            </a:pPr>
          </a:p>
          <a:p>
            <a:r>
              <a:rPr sz="1600" b="1">
                <a:solidFill>
                  <a:srgbClr val="006400"/>
                </a:solidFill>
              </a:rPr>
              <a:t>No communication channel required.</a:t>
            </a:r>
          </a:p>
          <a:p>
            <a:r>
              <a:rPr sz="1400" b="0">
                <a:solidFill>
                  <a:srgbClr val="505050"/>
                </a:solidFill>
              </a:rPr>
              <a:t>&lt; 10% overhead vs MAPPO (~1.3× parameters).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521440" y="1216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Component Ablation</a:t>
            </a:r>
          </a:p>
        </p:txBody>
      </p:sp>
      <p:pic>
        <p:nvPicPr>
          <p:cNvPr id="90" name="Picture 89" descr="fig_ablation_cram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1440" y="12893040"/>
            <a:ext cx="9601200" cy="685800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1521440" y="199339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05050"/>
                </a:solidFill>
              </a:rPr>
              <a:t>Aux loss: consistent variance reduction (2.3×) across layouts.</a:t>
            </a:r>
          </a:p>
          <a:p>
            <a:r>
              <a:rPr sz="1300" b="0">
                <a:solidFill>
                  <a:srgbClr val="505050"/>
                </a:solidFill>
              </a:rPr>
              <a:t>Attention: helps at N&gt;2, layout-dependent at N=2.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128480" y="1216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Discovery vs. Maintenance</a:t>
            </a:r>
          </a:p>
        </p:txBody>
      </p:sp>
      <p:pic>
        <p:nvPicPr>
          <p:cNvPr id="93" name="Picture 92" descr="fig_discovery_vs_mainten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8480" y="12893040"/>
            <a:ext cx="9601200" cy="50292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22128480" y="181051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</a:rPr>
              <a:t>Key Insight</a:t>
            </a:r>
          </a:p>
          <a:p>
            <a:r>
              <a:rPr sz="1400" b="0">
                <a:solidFill>
                  <a:srgbClr val="282828"/>
                </a:solidFill>
              </a:rPr>
              <a:t>Every method can discover coordination.</a:t>
            </a:r>
          </a:p>
          <a:p>
            <a:r>
              <a:rPr sz="1400" b="0">
                <a:solidFill>
                  <a:srgbClr val="282828"/>
                </a:solidFill>
              </a:rPr>
              <a:t>The challenge is keeping it. VABL’s auxiliary</a:t>
            </a:r>
          </a:p>
          <a:p>
            <a:r>
              <a:rPr sz="1400" b="0">
                <a:solidFill>
                  <a:srgbClr val="282828"/>
                </a:solidFill>
              </a:rPr>
              <a:t>prediction loss prevents belief drift, sustaining</a:t>
            </a:r>
          </a:p>
          <a:p>
            <a:r>
              <a:rPr sz="1400" b="1">
                <a:solidFill>
                  <a:srgbClr val="006400"/>
                </a:solidFill>
              </a:rPr>
              <a:t>coordination without communication.</a:t>
            </a:r>
          </a:p>
          <a:p>
            <a:pPr>
              <a:spcAft>
                <a:spcPts val="400"/>
              </a:spcAft>
            </a:pPr>
          </a:p>
          <a:p>
            <a:r>
              <a:rPr sz="1600" b="1">
                <a:solidFill>
                  <a:srgbClr val="003366"/>
                </a:solidFill>
              </a:rPr>
              <a:t>Future Work</a:t>
            </a:r>
          </a:p>
          <a:p>
            <a:r>
              <a:rPr sz="1300" b="0">
                <a:solidFill>
                  <a:srgbClr val="505050"/>
                </a:solidFill>
              </a:rPr>
              <a:t>• Hanabi evaluation (genuine partial observability)</a:t>
            </a:r>
          </a:p>
          <a:p>
            <a:r>
              <a:rPr sz="1300" b="0">
                <a:solidFill>
                  <a:srgbClr val="505050"/>
                </a:solidFill>
              </a:rPr>
              <a:t>• Scaling to N&gt;10 agents (sparse attention)</a:t>
            </a:r>
          </a:p>
          <a:p>
            <a:r>
              <a:rPr sz="1300" b="0">
                <a:solidFill>
                  <a:srgbClr val="505050"/>
                </a:solidFill>
              </a:rPr>
              <a:t>• Hybrid implicit + explicit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166541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5DC1D04D61A94E99EF3D5719243FB9" ma:contentTypeVersion="10" ma:contentTypeDescription="Create a new document." ma:contentTypeScope="" ma:versionID="06fdd9913ec38ea6c536bd43977d9c18">
  <xsd:schema xmlns:xsd="http://www.w3.org/2001/XMLSchema" xmlns:xs="http://www.w3.org/2001/XMLSchema" xmlns:p="http://schemas.microsoft.com/office/2006/metadata/properties" xmlns:ns2="a94b9393-3a63-4fb0-b504-491aeaec59ea" xmlns:ns3="1a06f832-0cff-4cdb-abec-3b86518291bb" targetNamespace="http://schemas.microsoft.com/office/2006/metadata/properties" ma:root="true" ma:fieldsID="2459a7c07bbd612434c6f6a00f280a05" ns2:_="" ns3:_="">
    <xsd:import namespace="a94b9393-3a63-4fb0-b504-491aeaec59ea"/>
    <xsd:import namespace="1a06f832-0cff-4cdb-abec-3b8651829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b9393-3a63-4fb0-b504-491aeaec5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1ab900-2ec0-4401-a445-b65711cd6e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f832-0cff-4cdb-abec-3b86518291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391199-53b5-417f-aaff-abec2eea2f35}" ma:internalName="TaxCatchAll" ma:showField="CatchAllData" ma:web="1a06f832-0cff-4cdb-abec-3b8651829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4b9393-3a63-4fb0-b504-491aeaec59ea">
      <Terms xmlns="http://schemas.microsoft.com/office/infopath/2007/PartnerControls"/>
    </lcf76f155ced4ddcb4097134ff3c332f>
    <TaxCatchAll xmlns="1a06f832-0cff-4cdb-abec-3b86518291bb" xsi:nil="true"/>
  </documentManagement>
</p:properties>
</file>

<file path=customXml/itemProps1.xml><?xml version="1.0" encoding="utf-8"?>
<ds:datastoreItem xmlns:ds="http://schemas.openxmlformats.org/officeDocument/2006/customXml" ds:itemID="{623F0816-2263-4C52-8658-14DE2C029003}"/>
</file>

<file path=customXml/itemProps2.xml><?xml version="1.0" encoding="utf-8"?>
<ds:datastoreItem xmlns:ds="http://schemas.openxmlformats.org/officeDocument/2006/customXml" ds:itemID="{449183F3-593C-4597-A875-D6D1E2043D1B}"/>
</file>

<file path=customXml/itemProps3.xml><?xml version="1.0" encoding="utf-8"?>
<ds:datastoreItem xmlns:ds="http://schemas.openxmlformats.org/officeDocument/2006/customXml" ds:itemID="{BA20DFF8-CB66-40FF-BF90-2A3AD0F5183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14414</TotalTime>
  <Words>230</Words>
  <Application>Microsoft Office PowerPoint</Application>
  <PresentationFormat>Custom</PresentationFormat>
  <Paragraphs>411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Zachary Brecheisen</dc:creator>
  <cp:lastModifiedBy>Danala, Gopichandh</cp:lastModifiedBy>
  <cp:revision>349</cp:revision>
  <dcterms:created xsi:type="dcterms:W3CDTF">2019-01-08T21:13:45Z</dcterms:created>
  <dcterms:modified xsi:type="dcterms:W3CDTF">2026-02-03T22:01:58Z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0x0101007F5DC1D04D61A94E99EF3D5719243FB9</vt:lpwstr>
  </property>
  <property fmtid="{D5CDD505-2E9C-101B-9397-08002B2CF9AE}" pid="3" name="MediaServiceImageTags">
    <vt:lpwstr/>
  </property>
</Properties>
</file>